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60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  <a:srgbClr val="253E52"/>
    <a:srgbClr val="5883B2"/>
    <a:srgbClr val="3A5A7E"/>
    <a:srgbClr val="555555"/>
    <a:srgbClr val="7193BD"/>
    <a:srgbClr val="80A6D5"/>
    <a:srgbClr val="EEECEE"/>
    <a:srgbClr val="9E7EFF"/>
    <a:srgbClr val="2671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91" autoAdjust="0"/>
    <p:restoredTop sz="94628"/>
  </p:normalViewPr>
  <p:slideViewPr>
    <p:cSldViewPr snapToGrid="0">
      <p:cViewPr>
        <p:scale>
          <a:sx n="33" d="100"/>
          <a:sy n="33" d="100"/>
        </p:scale>
        <p:origin x="442" y="-1858"/>
      </p:cViewPr>
      <p:guideLst/>
    </p:cSldViewPr>
  </p:slideViewPr>
  <p:notesTextViewPr>
    <p:cViewPr>
      <p:scale>
        <a:sx n="110" d="100"/>
        <a:sy n="110" d="100"/>
      </p:scale>
      <p:origin x="0" y="-158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E02457-2135-284C-B311-5AF2FB6144F1}" type="datetimeFigureOut">
              <a:rPr kumimoji="1" lang="ko-Kore-KR" altLang="en-US" smtClean="0"/>
              <a:t>06/19/2025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051F3C-04E4-3644-B81B-391246831B0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37457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06084" rtl="0" eaLnBrk="1" latinLnBrk="0" hangingPunct="1">
      <a:defRPr sz="4601" kern="1200">
        <a:solidFill>
          <a:schemeClr val="tx1"/>
        </a:solidFill>
        <a:latin typeface="+mn-lt"/>
        <a:ea typeface="+mn-ea"/>
        <a:cs typeface="+mn-cs"/>
      </a:defRPr>
    </a:lvl1pPr>
    <a:lvl2pPr marL="1753042" algn="l" defTabSz="3506084" rtl="0" eaLnBrk="1" latinLnBrk="0" hangingPunct="1">
      <a:defRPr sz="4601" kern="1200">
        <a:solidFill>
          <a:schemeClr val="tx1"/>
        </a:solidFill>
        <a:latin typeface="+mn-lt"/>
        <a:ea typeface="+mn-ea"/>
        <a:cs typeface="+mn-cs"/>
      </a:defRPr>
    </a:lvl2pPr>
    <a:lvl3pPr marL="3506084" algn="l" defTabSz="3506084" rtl="0" eaLnBrk="1" latinLnBrk="0" hangingPunct="1">
      <a:defRPr sz="4601" kern="1200">
        <a:solidFill>
          <a:schemeClr val="tx1"/>
        </a:solidFill>
        <a:latin typeface="+mn-lt"/>
        <a:ea typeface="+mn-ea"/>
        <a:cs typeface="+mn-cs"/>
      </a:defRPr>
    </a:lvl3pPr>
    <a:lvl4pPr marL="5259126" algn="l" defTabSz="3506084" rtl="0" eaLnBrk="1" latinLnBrk="0" hangingPunct="1">
      <a:defRPr sz="4601" kern="1200">
        <a:solidFill>
          <a:schemeClr val="tx1"/>
        </a:solidFill>
        <a:latin typeface="+mn-lt"/>
        <a:ea typeface="+mn-ea"/>
        <a:cs typeface="+mn-cs"/>
      </a:defRPr>
    </a:lvl4pPr>
    <a:lvl5pPr marL="7012168" algn="l" defTabSz="3506084" rtl="0" eaLnBrk="1" latinLnBrk="0" hangingPunct="1">
      <a:defRPr sz="4601" kern="1200">
        <a:solidFill>
          <a:schemeClr val="tx1"/>
        </a:solidFill>
        <a:latin typeface="+mn-lt"/>
        <a:ea typeface="+mn-ea"/>
        <a:cs typeface="+mn-cs"/>
      </a:defRPr>
    </a:lvl5pPr>
    <a:lvl6pPr marL="8765210" algn="l" defTabSz="3506084" rtl="0" eaLnBrk="1" latinLnBrk="0" hangingPunct="1">
      <a:defRPr sz="4601" kern="1200">
        <a:solidFill>
          <a:schemeClr val="tx1"/>
        </a:solidFill>
        <a:latin typeface="+mn-lt"/>
        <a:ea typeface="+mn-ea"/>
        <a:cs typeface="+mn-cs"/>
      </a:defRPr>
    </a:lvl6pPr>
    <a:lvl7pPr marL="10518252" algn="l" defTabSz="3506084" rtl="0" eaLnBrk="1" latinLnBrk="0" hangingPunct="1">
      <a:defRPr sz="4601" kern="1200">
        <a:solidFill>
          <a:schemeClr val="tx1"/>
        </a:solidFill>
        <a:latin typeface="+mn-lt"/>
        <a:ea typeface="+mn-ea"/>
        <a:cs typeface="+mn-cs"/>
      </a:defRPr>
    </a:lvl7pPr>
    <a:lvl8pPr marL="12271294" algn="l" defTabSz="3506084" rtl="0" eaLnBrk="1" latinLnBrk="0" hangingPunct="1">
      <a:defRPr sz="4601" kern="1200">
        <a:solidFill>
          <a:schemeClr val="tx1"/>
        </a:solidFill>
        <a:latin typeface="+mn-lt"/>
        <a:ea typeface="+mn-ea"/>
        <a:cs typeface="+mn-cs"/>
      </a:defRPr>
    </a:lvl8pPr>
    <a:lvl9pPr marL="14024336" algn="l" defTabSz="3506084" rtl="0" eaLnBrk="1" latinLnBrk="0" hangingPunct="1">
      <a:defRPr sz="46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전처리</a:t>
            </a:r>
            <a:endParaRPr lang="en-US" altLang="ko-KR" dirty="0"/>
          </a:p>
          <a:p>
            <a:r>
              <a:rPr lang="ko-KR" altLang="en-US" dirty="0"/>
              <a:t>이미지　빼는　거</a:t>
            </a:r>
            <a:endParaRPr lang="en-US" altLang="ko-KR" dirty="0"/>
          </a:p>
          <a:p>
            <a:r>
              <a:rPr lang="ko-KR" altLang="en-US" dirty="0"/>
              <a:t>ＳＴＦＴ　빼고　</a:t>
            </a:r>
            <a:r>
              <a:rPr lang="ko-KR" altLang="en-US" dirty="0" err="1"/>
              <a:t>Ｓｐｅｃｔｒｏｇｒａｍ</a:t>
            </a:r>
            <a:r>
              <a:rPr lang="ko-KR" altLang="en-US" dirty="0"/>
              <a:t>　에서　</a:t>
            </a:r>
            <a:r>
              <a:rPr lang="ko-KR" altLang="en-US" dirty="0" err="1"/>
              <a:t>ㅏ말함</a:t>
            </a:r>
            <a:r>
              <a:rPr lang="ko-KR" altLang="en-US" dirty="0"/>
              <a:t>　</a:t>
            </a:r>
            <a:endParaRPr lang="en-US" altLang="ko-KR" dirty="0"/>
          </a:p>
          <a:p>
            <a:r>
              <a:rPr lang="ko-KR" altLang="en-US" dirty="0" err="1"/>
              <a:t>전처리</a:t>
            </a:r>
            <a:r>
              <a:rPr lang="ko-KR" altLang="en-US" dirty="0"/>
              <a:t>　되기　전　되고　나서　그래프</a:t>
            </a:r>
            <a:endParaRPr lang="en-US" altLang="ko-KR" dirty="0"/>
          </a:p>
          <a:p>
            <a:r>
              <a:rPr lang="ko-KR" altLang="en-US" dirty="0"/>
              <a:t>１．　과정　（ＰＰＴ）　처음　－＞　마지막</a:t>
            </a:r>
            <a:endParaRPr lang="en-US" altLang="ko-KR" dirty="0"/>
          </a:p>
          <a:p>
            <a:r>
              <a:rPr lang="ko-KR" altLang="en-US" dirty="0"/>
              <a:t>２．　ＳＴＦＴ　그래프　없애고　</a:t>
            </a:r>
            <a:r>
              <a:rPr lang="ko-KR" altLang="en-US" dirty="0" err="1"/>
              <a:t>피피티</a:t>
            </a:r>
            <a:r>
              <a:rPr lang="ko-KR" altLang="en-US" dirty="0"/>
              <a:t>　과정　정리</a:t>
            </a:r>
            <a:endParaRPr lang="en-US" altLang="ko-KR" dirty="0"/>
          </a:p>
          <a:p>
            <a:r>
              <a:rPr lang="ko-KR" altLang="en-US" dirty="0"/>
              <a:t>ＳＴＦＴ　＋　</a:t>
            </a:r>
            <a:r>
              <a:rPr lang="ko-KR" altLang="en-US" dirty="0" err="1"/>
              <a:t>Ｓｐｅｃｔｒｏｇｒａｍ</a:t>
            </a:r>
            <a:endParaRPr lang="en-US" altLang="ko-KR" dirty="0"/>
          </a:p>
          <a:p>
            <a:r>
              <a:rPr lang="ko-KR" altLang="en-US" dirty="0"/>
              <a:t>전체적인　알고리즘　흐름도</a:t>
            </a:r>
            <a:endParaRPr lang="en-US" altLang="ko-KR" dirty="0"/>
          </a:p>
          <a:p>
            <a:r>
              <a:rPr lang="ko-KR" altLang="en-US" dirty="0"/>
              <a:t>４０ｘ３０　정리</a:t>
            </a:r>
            <a:endParaRPr lang="en-US" altLang="ko-KR" dirty="0"/>
          </a:p>
          <a:p>
            <a:r>
              <a:rPr lang="ko-KR" altLang="en-US" dirty="0" err="1"/>
              <a:t>Ｒｅｓｕｌｔ</a:t>
            </a:r>
            <a:endParaRPr lang="en-US" altLang="ko-KR" dirty="0"/>
          </a:p>
          <a:p>
            <a:r>
              <a:rPr lang="ko-KR" altLang="en-US" dirty="0"/>
              <a:t>불량　정상　유사도　（２개씩）</a:t>
            </a:r>
            <a:endParaRPr lang="en-US" altLang="ko-KR" dirty="0"/>
          </a:p>
          <a:p>
            <a:r>
              <a:rPr lang="ko-KR" altLang="en-US" dirty="0"/>
              <a:t>전압　데이터　유사도　</a:t>
            </a:r>
            <a:r>
              <a:rPr lang="ko-KR" altLang="en-US" dirty="0" err="1"/>
              <a:t>ｂｕｔ</a:t>
            </a:r>
            <a:r>
              <a:rPr lang="ko-KR" altLang="en-US" dirty="0"/>
              <a:t>，　특징　분류해서　잘　예측했다．</a:t>
            </a:r>
            <a:endParaRPr lang="en-US" altLang="ko-KR" dirty="0"/>
          </a:p>
          <a:p>
            <a:r>
              <a:rPr lang="ko-KR" altLang="en-US" dirty="0"/>
              <a:t>정상　비정상　유사하다</a:t>
            </a:r>
            <a:endParaRPr lang="en-US" altLang="ko-KR" dirty="0"/>
          </a:p>
          <a:p>
            <a:r>
              <a:rPr lang="ko-KR" altLang="en-US" dirty="0" err="1"/>
              <a:t>Ｔｅｓｔ</a:t>
            </a:r>
            <a:r>
              <a:rPr lang="ko-KR" altLang="en-US" dirty="0"/>
              <a:t>　</a:t>
            </a:r>
            <a:r>
              <a:rPr lang="ko-KR" altLang="en-US" dirty="0" err="1"/>
              <a:t>ｐｅｒｆｏｒｍａｎｃｅ</a:t>
            </a:r>
            <a:r>
              <a:rPr lang="ko-KR" altLang="en-US" dirty="0"/>
              <a:t>　크기　차이　</a:t>
            </a:r>
            <a:endParaRPr lang="en-US" altLang="ko-KR" dirty="0"/>
          </a:p>
          <a:p>
            <a:r>
              <a:rPr lang="ko-KR" altLang="en-US" dirty="0" err="1"/>
              <a:t>ｔｒａｉｎ</a:t>
            </a:r>
            <a:r>
              <a:rPr lang="ko-KR" altLang="en-US" dirty="0"/>
              <a:t>，　</a:t>
            </a:r>
            <a:r>
              <a:rPr lang="ko-KR" altLang="en-US" dirty="0" err="1"/>
              <a:t>ｖａｌｉｄａｔｉｏｎ</a:t>
            </a:r>
            <a:r>
              <a:rPr lang="ko-KR" altLang="en-US" dirty="0"/>
              <a:t>　오른쪽　그래프　설명</a:t>
            </a:r>
            <a:endParaRPr lang="en-US" altLang="ko-KR" dirty="0"/>
          </a:p>
          <a:p>
            <a:r>
              <a:rPr lang="ko-KR" altLang="en-US" dirty="0" err="1"/>
              <a:t>Ｏｒｉｇｉｎａｌ</a:t>
            </a:r>
            <a:r>
              <a:rPr lang="ko-KR" altLang="en-US" dirty="0"/>
              <a:t>　－＞　ＰＣＡ　</a:t>
            </a:r>
            <a:r>
              <a:rPr lang="ko-KR" altLang="en-US" dirty="0" err="1"/>
              <a:t>ｂａｓｅｄ</a:t>
            </a:r>
            <a:endParaRPr lang="en-US" altLang="ko-KR" dirty="0"/>
          </a:p>
          <a:p>
            <a:r>
              <a:rPr lang="ko-KR" altLang="en-US" dirty="0"/>
              <a:t>그래프　테두리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051F3C-04E4-3644-B81B-391246831B06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63349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2" y="7005157"/>
            <a:ext cx="25733931" cy="14902051"/>
          </a:xfrm>
        </p:spPr>
        <p:txBody>
          <a:bodyPr anchor="b"/>
          <a:lstStyle>
            <a:lvl1pPr algn="ctr">
              <a:defRPr sz="1986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8"/>
            <a:ext cx="22706410" cy="10334331"/>
          </a:xfrm>
        </p:spPr>
        <p:txBody>
          <a:bodyPr/>
          <a:lstStyle>
            <a:lvl1pPr marL="0" indent="0" algn="ctr">
              <a:buNone/>
              <a:defRPr sz="7947"/>
            </a:lvl1pPr>
            <a:lvl2pPr marL="1513820" indent="0" algn="ctr">
              <a:buNone/>
              <a:defRPr sz="6622"/>
            </a:lvl2pPr>
            <a:lvl3pPr marL="3027641" indent="0" algn="ctr">
              <a:buNone/>
              <a:defRPr sz="5960"/>
            </a:lvl3pPr>
            <a:lvl4pPr marL="4541461" indent="0" algn="ctr">
              <a:buNone/>
              <a:defRPr sz="5297"/>
            </a:lvl4pPr>
            <a:lvl5pPr marL="6055282" indent="0" algn="ctr">
              <a:buNone/>
              <a:defRPr sz="5297"/>
            </a:lvl5pPr>
            <a:lvl6pPr marL="7569103" indent="0" algn="ctr">
              <a:buNone/>
              <a:defRPr sz="5297"/>
            </a:lvl6pPr>
            <a:lvl7pPr marL="9082923" indent="0" algn="ctr">
              <a:buNone/>
              <a:defRPr sz="5297"/>
            </a:lvl7pPr>
            <a:lvl8pPr marL="10596744" indent="0" algn="ctr">
              <a:buNone/>
              <a:defRPr sz="5297"/>
            </a:lvl8pPr>
            <a:lvl9pPr marL="12110564" indent="0" algn="ctr">
              <a:buNone/>
              <a:defRPr sz="5297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04C21-C4C9-8541-8C99-D7C2936703C4}" type="datetimeFigureOut">
              <a:rPr kumimoji="1" lang="ko-Kore-KR" altLang="en-US" smtClean="0"/>
              <a:t>06/19/2025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64E9-C67D-044E-8B62-E9FBB2F1DFF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06834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04C21-C4C9-8541-8C99-D7C2936703C4}" type="datetimeFigureOut">
              <a:rPr kumimoji="1" lang="ko-Kore-KR" altLang="en-US" smtClean="0"/>
              <a:t>06/19/2025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64E9-C67D-044E-8B62-E9FBB2F1DFF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125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5" y="10671230"/>
            <a:ext cx="26112371" cy="17805173"/>
          </a:xfrm>
        </p:spPr>
        <p:txBody>
          <a:bodyPr anchor="b"/>
          <a:lstStyle>
            <a:lvl1pPr>
              <a:defRPr sz="1986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5" y="28644846"/>
            <a:ext cx="26112371" cy="9363320"/>
          </a:xfrm>
        </p:spPr>
        <p:txBody>
          <a:bodyPr/>
          <a:lstStyle>
            <a:lvl1pPr marL="0" indent="0">
              <a:buNone/>
              <a:defRPr sz="7947">
                <a:solidFill>
                  <a:schemeClr val="tx1">
                    <a:tint val="82000"/>
                  </a:schemeClr>
                </a:solidFill>
              </a:defRPr>
            </a:lvl1pPr>
            <a:lvl2pPr marL="1513820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641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5282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9103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923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74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1056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04C21-C4C9-8541-8C99-D7C2936703C4}" type="datetimeFigureOut">
              <a:rPr kumimoji="1" lang="ko-Kore-KR" altLang="en-US" smtClean="0"/>
              <a:t>06/19/2025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64E9-C67D-044E-8B62-E9FBB2F1DFF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62641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5" cy="271585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7" y="11394520"/>
            <a:ext cx="12866965" cy="271585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04C21-C4C9-8541-8C99-D7C2936703C4}" type="datetimeFigureOut">
              <a:rPr kumimoji="1" lang="ko-Kore-KR" altLang="en-US" smtClean="0"/>
              <a:t>06/19/2025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64E9-C67D-044E-8B62-E9FBB2F1DFF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62186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5" y="2278913"/>
            <a:ext cx="26112371" cy="827341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1"/>
            <a:ext cx="12807832" cy="5142393"/>
          </a:xfrm>
        </p:spPr>
        <p:txBody>
          <a:bodyPr anchor="b"/>
          <a:lstStyle>
            <a:lvl1pPr marL="0" indent="0">
              <a:buNone/>
              <a:defRPr sz="7947" b="1"/>
            </a:lvl1pPr>
            <a:lvl2pPr marL="1513820" indent="0">
              <a:buNone/>
              <a:defRPr sz="6622" b="1"/>
            </a:lvl2pPr>
            <a:lvl3pPr marL="3027641" indent="0">
              <a:buNone/>
              <a:defRPr sz="5960" b="1"/>
            </a:lvl3pPr>
            <a:lvl4pPr marL="4541461" indent="0">
              <a:buNone/>
              <a:defRPr sz="5297" b="1"/>
            </a:lvl4pPr>
            <a:lvl5pPr marL="6055282" indent="0">
              <a:buNone/>
              <a:defRPr sz="5297" b="1"/>
            </a:lvl5pPr>
            <a:lvl6pPr marL="7569103" indent="0">
              <a:buNone/>
              <a:defRPr sz="5297" b="1"/>
            </a:lvl6pPr>
            <a:lvl7pPr marL="9082923" indent="0">
              <a:buNone/>
              <a:defRPr sz="5297" b="1"/>
            </a:lvl7pPr>
            <a:lvl8pPr marL="10596744" indent="0">
              <a:buNone/>
              <a:defRPr sz="5297" b="1"/>
            </a:lvl8pPr>
            <a:lvl9pPr marL="12110564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5"/>
            <a:ext cx="12807832" cy="2299711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9" y="10492871"/>
            <a:ext cx="12870909" cy="5142393"/>
          </a:xfrm>
        </p:spPr>
        <p:txBody>
          <a:bodyPr anchor="b"/>
          <a:lstStyle>
            <a:lvl1pPr marL="0" indent="0">
              <a:buNone/>
              <a:defRPr sz="7947" b="1"/>
            </a:lvl1pPr>
            <a:lvl2pPr marL="1513820" indent="0">
              <a:buNone/>
              <a:defRPr sz="6622" b="1"/>
            </a:lvl2pPr>
            <a:lvl3pPr marL="3027641" indent="0">
              <a:buNone/>
              <a:defRPr sz="5960" b="1"/>
            </a:lvl3pPr>
            <a:lvl4pPr marL="4541461" indent="0">
              <a:buNone/>
              <a:defRPr sz="5297" b="1"/>
            </a:lvl4pPr>
            <a:lvl5pPr marL="6055282" indent="0">
              <a:buNone/>
              <a:defRPr sz="5297" b="1"/>
            </a:lvl5pPr>
            <a:lvl6pPr marL="7569103" indent="0">
              <a:buNone/>
              <a:defRPr sz="5297" b="1"/>
            </a:lvl6pPr>
            <a:lvl7pPr marL="9082923" indent="0">
              <a:buNone/>
              <a:defRPr sz="5297" b="1"/>
            </a:lvl7pPr>
            <a:lvl8pPr marL="10596744" indent="0">
              <a:buNone/>
              <a:defRPr sz="5297" b="1"/>
            </a:lvl8pPr>
            <a:lvl9pPr marL="12110564" indent="0">
              <a:buNone/>
              <a:defRPr sz="529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9" y="15635265"/>
            <a:ext cx="12870909" cy="2299711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04C21-C4C9-8541-8C99-D7C2936703C4}" type="datetimeFigureOut">
              <a:rPr kumimoji="1" lang="ko-Kore-KR" altLang="en-US" smtClean="0"/>
              <a:t>06/19/2025</a:t>
            </a:fld>
            <a:endParaRPr kumimoji="1" lang="ko-Kore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64E9-C67D-044E-8B62-E9FBB2F1DFF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87264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04C21-C4C9-8541-8C99-D7C2936703C4}" type="datetimeFigureOut">
              <a:rPr kumimoji="1" lang="ko-Kore-KR" altLang="en-US" smtClean="0"/>
              <a:t>06/19/2025</a:t>
            </a:fld>
            <a:endParaRPr kumimoji="1" lang="ko-Kore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64E9-C67D-044E-8B62-E9FBB2F1DFF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1499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04C21-C4C9-8541-8C99-D7C2936703C4}" type="datetimeFigureOut">
              <a:rPr kumimoji="1" lang="ko-Kore-KR" altLang="en-US" smtClean="0"/>
              <a:t>06/19/2025</a:t>
            </a:fld>
            <a:endParaRPr kumimoji="1" lang="ko-Kore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64E9-C67D-044E-8B62-E9FBB2F1DFF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26372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5" y="2853585"/>
            <a:ext cx="9764544" cy="9987545"/>
          </a:xfrm>
        </p:spPr>
        <p:txBody>
          <a:bodyPr anchor="b"/>
          <a:lstStyle>
            <a:lvl1pPr>
              <a:defRPr sz="1059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60"/>
            <a:ext cx="15326827" cy="30418415"/>
          </a:xfrm>
        </p:spPr>
        <p:txBody>
          <a:bodyPr/>
          <a:lstStyle>
            <a:lvl1pPr>
              <a:defRPr sz="10596"/>
            </a:lvl1pPr>
            <a:lvl2pPr>
              <a:defRPr sz="9271"/>
            </a:lvl2pPr>
            <a:lvl3pPr>
              <a:defRPr sz="7947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5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820" indent="0">
              <a:buNone/>
              <a:defRPr sz="4636"/>
            </a:lvl2pPr>
            <a:lvl3pPr marL="3027641" indent="0">
              <a:buNone/>
              <a:defRPr sz="3974"/>
            </a:lvl3pPr>
            <a:lvl4pPr marL="4541461" indent="0">
              <a:buNone/>
              <a:defRPr sz="3311"/>
            </a:lvl4pPr>
            <a:lvl5pPr marL="6055282" indent="0">
              <a:buNone/>
              <a:defRPr sz="3311"/>
            </a:lvl5pPr>
            <a:lvl6pPr marL="7569103" indent="0">
              <a:buNone/>
              <a:defRPr sz="3311"/>
            </a:lvl6pPr>
            <a:lvl7pPr marL="9082923" indent="0">
              <a:buNone/>
              <a:defRPr sz="3311"/>
            </a:lvl7pPr>
            <a:lvl8pPr marL="10596744" indent="0">
              <a:buNone/>
              <a:defRPr sz="3311"/>
            </a:lvl8pPr>
            <a:lvl9pPr marL="12110564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04C21-C4C9-8541-8C99-D7C2936703C4}" type="datetimeFigureOut">
              <a:rPr kumimoji="1" lang="ko-Kore-KR" altLang="en-US" smtClean="0"/>
              <a:t>06/19/2025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64E9-C67D-044E-8B62-E9FBB2F1DFF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9824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5" y="2853585"/>
            <a:ext cx="9764544" cy="9987545"/>
          </a:xfrm>
        </p:spPr>
        <p:txBody>
          <a:bodyPr anchor="b"/>
          <a:lstStyle>
            <a:lvl1pPr>
              <a:defRPr sz="1059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60"/>
            <a:ext cx="15326827" cy="30418415"/>
          </a:xfrm>
        </p:spPr>
        <p:txBody>
          <a:bodyPr anchor="t"/>
          <a:lstStyle>
            <a:lvl1pPr marL="0" indent="0">
              <a:buNone/>
              <a:defRPr sz="10596"/>
            </a:lvl1pPr>
            <a:lvl2pPr marL="1513820" indent="0">
              <a:buNone/>
              <a:defRPr sz="9271"/>
            </a:lvl2pPr>
            <a:lvl3pPr marL="3027641" indent="0">
              <a:buNone/>
              <a:defRPr sz="7947"/>
            </a:lvl3pPr>
            <a:lvl4pPr marL="4541461" indent="0">
              <a:buNone/>
              <a:defRPr sz="6622"/>
            </a:lvl4pPr>
            <a:lvl5pPr marL="6055282" indent="0">
              <a:buNone/>
              <a:defRPr sz="6622"/>
            </a:lvl5pPr>
            <a:lvl6pPr marL="7569103" indent="0">
              <a:buNone/>
              <a:defRPr sz="6622"/>
            </a:lvl6pPr>
            <a:lvl7pPr marL="9082923" indent="0">
              <a:buNone/>
              <a:defRPr sz="6622"/>
            </a:lvl7pPr>
            <a:lvl8pPr marL="10596744" indent="0">
              <a:buNone/>
              <a:defRPr sz="6622"/>
            </a:lvl8pPr>
            <a:lvl9pPr marL="12110564" indent="0">
              <a:buNone/>
              <a:defRPr sz="6622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5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820" indent="0">
              <a:buNone/>
              <a:defRPr sz="4636"/>
            </a:lvl2pPr>
            <a:lvl3pPr marL="3027641" indent="0">
              <a:buNone/>
              <a:defRPr sz="3974"/>
            </a:lvl3pPr>
            <a:lvl4pPr marL="4541461" indent="0">
              <a:buNone/>
              <a:defRPr sz="3311"/>
            </a:lvl4pPr>
            <a:lvl5pPr marL="6055282" indent="0">
              <a:buNone/>
              <a:defRPr sz="3311"/>
            </a:lvl5pPr>
            <a:lvl6pPr marL="7569103" indent="0">
              <a:buNone/>
              <a:defRPr sz="3311"/>
            </a:lvl6pPr>
            <a:lvl7pPr marL="9082923" indent="0">
              <a:buNone/>
              <a:defRPr sz="3311"/>
            </a:lvl7pPr>
            <a:lvl8pPr marL="10596744" indent="0">
              <a:buNone/>
              <a:defRPr sz="3311"/>
            </a:lvl8pPr>
            <a:lvl9pPr marL="12110564" indent="0">
              <a:buNone/>
              <a:defRPr sz="331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04C21-C4C9-8541-8C99-D7C2936703C4}" type="datetimeFigureOut">
              <a:rPr kumimoji="1" lang="ko-Kore-KR" altLang="en-US" smtClean="0"/>
              <a:t>06/19/2025</a:t>
            </a:fld>
            <a:endParaRPr kumimoji="1" lang="ko-Kore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64E9-C67D-044E-8B62-E9FBB2F1DFF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53230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04C21-C4C9-8541-8C99-D7C2936703C4}" type="datetimeFigureOut">
              <a:rPr kumimoji="1" lang="ko-Kore-KR" altLang="en-US" smtClean="0"/>
              <a:t>06/19/2025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64E9-C67D-044E-8B62-E9FBB2F1DFF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53543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5"/>
            <a:ext cx="6528093" cy="3627421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2" y="2278905"/>
            <a:ext cx="19205839" cy="3627421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04C21-C4C9-8541-8C99-D7C2936703C4}" type="datetimeFigureOut">
              <a:rPr kumimoji="1" lang="ko-Kore-KR" altLang="en-US" smtClean="0"/>
              <a:t>06/19/2025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64E9-C67D-044E-8B62-E9FBB2F1DFF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10019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2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304C21-C4C9-8541-8C99-D7C2936703C4}" type="datetimeFigureOut">
              <a:rPr kumimoji="1" lang="ko-Kore-KR" altLang="en-US" smtClean="0"/>
              <a:t>06/19/2025</a:t>
            </a:fld>
            <a:endParaRPr kumimoji="1" lang="ko-Kore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6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A264E9-C67D-044E-8B62-E9FBB2F1DFF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17215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641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910" indent="-756910" algn="l" defTabSz="3027641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731" indent="-756910" algn="l" defTabSz="3027641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sz="7947" kern="1200">
          <a:solidFill>
            <a:schemeClr val="tx1"/>
          </a:solidFill>
          <a:latin typeface="+mn-lt"/>
          <a:ea typeface="+mn-ea"/>
          <a:cs typeface="+mn-cs"/>
        </a:defRPr>
      </a:lvl2pPr>
      <a:lvl3pPr marL="3784551" indent="-756910" algn="l" defTabSz="3027641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371" indent="-756910" algn="l" defTabSz="3027641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2193" indent="-756910" algn="l" defTabSz="3027641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6013" indent="-756910" algn="l" defTabSz="3027641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834" indent="-756910" algn="l" defTabSz="3027641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654" indent="-756910" algn="l" defTabSz="3027641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7474" indent="-756910" algn="l" defTabSz="3027641" rtl="0" eaLnBrk="1" latinLnBrk="0" hangingPunct="1">
        <a:lnSpc>
          <a:spcPct val="90000"/>
        </a:lnSpc>
        <a:spcBef>
          <a:spcPts val="1656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641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820" algn="l" defTabSz="3027641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641" algn="l" defTabSz="3027641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461" algn="l" defTabSz="3027641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5282" algn="l" defTabSz="3027641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9103" algn="l" defTabSz="3027641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923" algn="l" defTabSz="3027641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744" algn="l" defTabSz="3027641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10564" algn="l" defTabSz="3027641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image" Target="../media/image1.jp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microsoft.com/office/2007/relationships/hdphoto" Target="../media/hdphoto1.wdp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59CEB4A-17B1-8B4E-70AF-BFCB9125A035}"/>
              </a:ext>
            </a:extLst>
          </p:cNvPr>
          <p:cNvSpPr/>
          <p:nvPr/>
        </p:nvSpPr>
        <p:spPr>
          <a:xfrm>
            <a:off x="0" y="1"/>
            <a:ext cx="30275213" cy="5134707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B188D5-1B7D-8603-55BE-76DB721149AE}"/>
              </a:ext>
            </a:extLst>
          </p:cNvPr>
          <p:cNvSpPr txBox="1"/>
          <p:nvPr/>
        </p:nvSpPr>
        <p:spPr>
          <a:xfrm>
            <a:off x="937845" y="468925"/>
            <a:ext cx="290263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800" b="1" dirty="0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ESS </a:t>
            </a:r>
            <a:r>
              <a:rPr lang="ko-KR" altLang="en-US" sz="8800" b="1" dirty="0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배터리 이상 탐지를 위한</a:t>
            </a:r>
            <a:r>
              <a:rPr lang="en-US" altLang="ko-KR" sz="8800" b="1" dirty="0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 STFT </a:t>
            </a:r>
            <a:r>
              <a:rPr lang="ko-KR" altLang="en-US" sz="8800" b="1" dirty="0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기반 </a:t>
            </a:r>
            <a:r>
              <a:rPr lang="en-US" altLang="ko-KR" sz="8800" b="1" dirty="0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CNN </a:t>
            </a:r>
            <a:r>
              <a:rPr lang="ko-KR" altLang="en-US" sz="8800" b="1" dirty="0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모델 연구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368017-2DE0-D2D0-8315-82C67F7FFA29}"/>
              </a:ext>
            </a:extLst>
          </p:cNvPr>
          <p:cNvSpPr txBox="1"/>
          <p:nvPr/>
        </p:nvSpPr>
        <p:spPr>
          <a:xfrm>
            <a:off x="4852162" y="1971549"/>
            <a:ext cx="20570887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800" b="1" dirty="0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STFT-Based CNN for Anomaly Detection in Energy Storage Systems</a:t>
            </a:r>
            <a:endParaRPr lang="en-US" altLang="ko-KR" sz="4800" dirty="0">
              <a:solidFill>
                <a:schemeClr val="bg1"/>
              </a:solidFill>
              <a:latin typeface="Times New Roman" panose="02020603050405020304" pitchFamily="18" charset="0"/>
              <a:ea typeface="Pretendard SemiBold" panose="0200070300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0F7E06-879B-E405-27F4-8233F7A9491A}"/>
              </a:ext>
            </a:extLst>
          </p:cNvPr>
          <p:cNvSpPr txBox="1"/>
          <p:nvPr/>
        </p:nvSpPr>
        <p:spPr>
          <a:xfrm>
            <a:off x="8998124" y="3238943"/>
            <a:ext cx="12278961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4400" b="1" dirty="0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이연서</a:t>
            </a:r>
            <a:r>
              <a:rPr lang="en-US" altLang="ko-KR" sz="4400" b="1" dirty="0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4400" b="1" dirty="0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김민수</a:t>
            </a:r>
            <a:r>
              <a:rPr lang="en-US" altLang="ko-KR" sz="4400" b="1" dirty="0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김파란하늘</a:t>
            </a:r>
            <a:r>
              <a:rPr lang="en-US" altLang="ko-KR" sz="4400" b="1" dirty="0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,</a:t>
            </a:r>
            <a:r>
              <a:rPr lang="ko-KR" altLang="en-US" sz="4400" b="1" dirty="0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이의수</a:t>
            </a:r>
            <a:r>
              <a:rPr lang="en-US" altLang="ko-KR" sz="4400" b="1" dirty="0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4400" b="1" dirty="0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정태윤</a:t>
            </a:r>
            <a:r>
              <a:rPr lang="en-US" altLang="ko-KR" sz="4400" b="1" dirty="0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현장훈</a:t>
            </a:r>
            <a:r>
              <a:rPr lang="en-US" altLang="ko-KR" sz="4400" b="1" dirty="0">
                <a:solidFill>
                  <a:schemeClr val="bg1"/>
                </a:solidFill>
              </a:rPr>
              <a:t>†</a:t>
            </a:r>
            <a:endParaRPr lang="ko-KR" altLang="en-US" sz="4400" dirty="0">
              <a:solidFill>
                <a:schemeClr val="bg1"/>
              </a:solidFill>
            </a:endParaRPr>
          </a:p>
          <a:p>
            <a:pPr algn="ctr"/>
            <a:r>
              <a:rPr lang="ko-KR" alt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국립한밭대학교</a:t>
            </a:r>
            <a:r>
              <a:rPr lang="en-US" altLang="ko-KR" sz="4400" b="1" dirty="0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,</a:t>
            </a:r>
            <a:r>
              <a:rPr lang="ko-KR" altLang="en-US" sz="4400" b="1" dirty="0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 충남대학교</a:t>
            </a:r>
            <a:r>
              <a:rPr lang="en-US" altLang="ko-KR" sz="4400" b="1" dirty="0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ea typeface="Pretendard SemiBold" panose="02000703000000020004" pitchFamily="50" charset="-127"/>
                <a:cs typeface="Times New Roman" panose="02020603050405020304" pitchFamily="18" charset="0"/>
              </a:rPr>
              <a:t>로보볼트</a:t>
            </a:r>
            <a:endParaRPr lang="en-US" altLang="ko-KR" sz="4400" b="1" dirty="0">
              <a:solidFill>
                <a:schemeClr val="bg1"/>
              </a:solidFill>
              <a:latin typeface="Times New Roman" panose="02020603050405020304" pitchFamily="18" charset="0"/>
              <a:ea typeface="Pretendard SemiBold" panose="0200070300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92A0BDD-C9E8-9090-09BB-E10FC6BA1AAA}"/>
              </a:ext>
            </a:extLst>
          </p:cNvPr>
          <p:cNvSpPr/>
          <p:nvPr/>
        </p:nvSpPr>
        <p:spPr>
          <a:xfrm>
            <a:off x="929234" y="5496545"/>
            <a:ext cx="28240893" cy="887117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A5D3DB-A837-EE65-2417-69403C884CD9}"/>
              </a:ext>
            </a:extLst>
          </p:cNvPr>
          <p:cNvSpPr txBox="1"/>
          <p:nvPr/>
        </p:nvSpPr>
        <p:spPr>
          <a:xfrm>
            <a:off x="14101026" y="5496451"/>
            <a:ext cx="14478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</a:t>
            </a:r>
            <a:endParaRPr lang="ko-KR" alt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42233C-C5FD-AFED-D5CE-F990157C8A5B}"/>
              </a:ext>
            </a:extLst>
          </p:cNvPr>
          <p:cNvSpPr txBox="1"/>
          <p:nvPr/>
        </p:nvSpPr>
        <p:spPr>
          <a:xfrm>
            <a:off x="929234" y="6567054"/>
            <a:ext cx="280650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Tx/>
              <a:buChar char="-"/>
            </a:pPr>
            <a:r>
              <a:rPr lang="en-US" altLang="ko-KR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ESS </a:t>
            </a:r>
            <a:r>
              <a:rPr lang="ko-KR" altLang="en-US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사용량 증가 </a:t>
            </a:r>
            <a:r>
              <a:rPr lang="en-US" altLang="ko-KR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-&gt; ESS </a:t>
            </a:r>
            <a:r>
              <a:rPr lang="ko-KR" altLang="en-US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배터리 화재 증가</a:t>
            </a:r>
            <a:r>
              <a:rPr lang="en-US" altLang="ko-KR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</a:t>
            </a:r>
          </a:p>
          <a:p>
            <a:pPr marL="571500" indent="-571500">
              <a:buFontTx/>
              <a:buChar char="-"/>
            </a:pPr>
            <a:r>
              <a:rPr lang="en-US" altLang="ko-KR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Threshold </a:t>
            </a:r>
            <a:r>
              <a:rPr lang="ko-KR" altLang="en-US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값 사용 연구 </a:t>
            </a:r>
            <a:r>
              <a:rPr lang="en-US" altLang="ko-KR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-&gt; </a:t>
            </a:r>
            <a:r>
              <a:rPr lang="ko-KR" altLang="en-US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배터리 실제 상태와 밀접한 연관 </a:t>
            </a:r>
            <a:r>
              <a:rPr lang="en-US" altLang="ko-KR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=&gt; </a:t>
            </a:r>
            <a:r>
              <a:rPr lang="ko-KR" altLang="en-US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확실한 예측 불가능</a:t>
            </a:r>
            <a:endParaRPr lang="en-US" altLang="ko-KR" sz="36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marL="571500" indent="-571500">
              <a:buFontTx/>
              <a:buChar char="-"/>
            </a:pPr>
            <a:r>
              <a:rPr lang="en-US" altLang="ko-KR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RNN =&gt; </a:t>
            </a:r>
            <a:r>
              <a:rPr lang="ko-KR" altLang="en-US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데이터 길이가 길어질수록 기울기 소실 및 기울기 폭주 문제 존재</a:t>
            </a:r>
            <a:endParaRPr lang="en-US" altLang="ko-KR" sz="36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endParaRPr lang="en-US" altLang="ko-KR" sz="36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r>
              <a:rPr lang="en-US" altLang="ko-KR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=&gt; </a:t>
            </a:r>
            <a:r>
              <a:rPr lang="en-US" altLang="ko-KR" sz="3600" b="1" dirty="0"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ExtraLight" panose="02000303000000020004" pitchFamily="50" charset="-127"/>
              </a:rPr>
              <a:t>STFT</a:t>
            </a:r>
            <a:r>
              <a:rPr lang="ko-KR" altLang="en-US" sz="3600" b="1" dirty="0"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ExtraLight" panose="02000303000000020004" pitchFamily="50" charset="-127"/>
              </a:rPr>
              <a:t>을 수행한 후</a:t>
            </a:r>
            <a:r>
              <a:rPr lang="en-US" altLang="ko-KR" sz="3600" b="1" dirty="0"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ExtraLight" panose="02000303000000020004" pitchFamily="50" charset="-127"/>
              </a:rPr>
              <a:t>, Spectrogram</a:t>
            </a:r>
            <a:r>
              <a:rPr lang="ko-KR" altLang="en-US" sz="3600" b="1" dirty="0"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ExtraLight" panose="02000303000000020004" pitchFamily="50" charset="-127"/>
              </a:rPr>
              <a:t>으로 이미지화 한 후 </a:t>
            </a:r>
            <a:r>
              <a:rPr lang="en-US" altLang="ko-KR" sz="3600" b="1" dirty="0"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ExtraLight" panose="02000303000000020004" pitchFamily="50" charset="-127"/>
              </a:rPr>
              <a:t>CNN</a:t>
            </a:r>
            <a:r>
              <a:rPr lang="ko-KR" altLang="en-US" sz="3600" b="1" dirty="0">
                <a:latin typeface="Noto Sans KR Medium" panose="020B0200000000000000" pitchFamily="50" charset="-127"/>
                <a:ea typeface="Noto Sans KR Medium" panose="020B0200000000000000" pitchFamily="50" charset="-127"/>
                <a:cs typeface="Pretendard ExtraLight" panose="02000303000000020004" pitchFamily="50" charset="-127"/>
              </a:rPr>
              <a:t>을 수행하는 알고리즘 제안</a:t>
            </a:r>
            <a:endParaRPr lang="en-US" altLang="ko-KR" sz="3600" b="1" dirty="0">
              <a:latin typeface="Noto Sans KR Medium" panose="020B0200000000000000" pitchFamily="50" charset="-127"/>
              <a:ea typeface="Noto Sans KR Medium" panose="020B0200000000000000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1502388-CDB7-E759-06E8-AFDC0681E237}"/>
              </a:ext>
            </a:extLst>
          </p:cNvPr>
          <p:cNvSpPr/>
          <p:nvPr/>
        </p:nvSpPr>
        <p:spPr>
          <a:xfrm>
            <a:off x="1138682" y="11144058"/>
            <a:ext cx="13517478" cy="705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26B131-F33C-26F3-A965-4B0D3CEA62A5}"/>
              </a:ext>
            </a:extLst>
          </p:cNvPr>
          <p:cNvSpPr txBox="1"/>
          <p:nvPr/>
        </p:nvSpPr>
        <p:spPr>
          <a:xfrm>
            <a:off x="5983916" y="10822995"/>
            <a:ext cx="3615290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Data Generation</a:t>
            </a:r>
            <a:endParaRPr lang="ko-KR" altLang="en-US" sz="36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73DEEA-76F7-DC8A-FEBB-F286B80792B8}"/>
              </a:ext>
            </a:extLst>
          </p:cNvPr>
          <p:cNvSpPr txBox="1"/>
          <p:nvPr/>
        </p:nvSpPr>
        <p:spPr>
          <a:xfrm>
            <a:off x="2569736" y="15085530"/>
            <a:ext cx="301139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Fig 1-1. Raw Data</a:t>
            </a:r>
          </a:p>
        </p:txBody>
      </p:sp>
      <p:pic>
        <p:nvPicPr>
          <p:cNvPr id="20" name="그림 19" descr="원, 텍스트, 상징, 로고이(가) 표시된 사진&#10;&#10;자동 생성된 설명">
            <a:extLst>
              <a:ext uri="{FF2B5EF4-FFF2-40B4-BE49-F238E27FC236}">
                <a16:creationId xmlns:a16="http://schemas.microsoft.com/office/drawing/2014/main" id="{43854ED8-F2CA-73D2-72D9-6D6F1468180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954" y="2982875"/>
            <a:ext cx="1936120" cy="186862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92A7056-D07B-21F7-C538-72D0DDCB3C28}"/>
              </a:ext>
            </a:extLst>
          </p:cNvPr>
          <p:cNvSpPr txBox="1"/>
          <p:nvPr/>
        </p:nvSpPr>
        <p:spPr>
          <a:xfrm>
            <a:off x="1115482" y="39907656"/>
            <a:ext cx="22110277" cy="207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5580" marR="0" indent="-195580" algn="just" fontAlgn="base" latinLnBrk="1">
              <a:lnSpc>
                <a:spcPct val="160000"/>
              </a:lnSpc>
              <a:buNone/>
              <a:tabLst>
                <a:tab pos="541020" algn="l"/>
                <a:tab pos="1080770" algn="l"/>
                <a:tab pos="1621790" algn="l"/>
                <a:tab pos="2161540" algn="l"/>
                <a:tab pos="2702560" algn="l"/>
                <a:tab pos="3243580" algn="l"/>
                <a:tab pos="3783330" algn="l"/>
                <a:tab pos="4324350" algn="l"/>
                <a:tab pos="4864100" algn="l"/>
                <a:tab pos="5405120" algn="l"/>
                <a:tab pos="5946140" algn="l"/>
                <a:tab pos="6485890" algn="l"/>
                <a:tab pos="7026910" algn="l"/>
                <a:tab pos="7566660" algn="l"/>
                <a:tab pos="8107680" algn="l"/>
                <a:tab pos="8648700" algn="l"/>
                <a:tab pos="9188450" algn="l"/>
                <a:tab pos="9729470" algn="l"/>
                <a:tab pos="10269220" algn="l"/>
                <a:tab pos="10810240" algn="l"/>
                <a:tab pos="11351260" algn="l"/>
                <a:tab pos="11891010" algn="l"/>
                <a:tab pos="12432030" algn="l"/>
                <a:tab pos="12971780" algn="l"/>
                <a:tab pos="13512800" algn="l"/>
                <a:tab pos="14053820" algn="l"/>
                <a:tab pos="14593570" algn="l"/>
                <a:tab pos="15134590" algn="l"/>
                <a:tab pos="15674340" algn="l"/>
                <a:tab pos="16215360" algn="l"/>
              </a:tabLst>
            </a:pPr>
            <a:r>
              <a:rPr lang="en-US" altLang="ko-KR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Chen, H., Xie, Y., &amp; Li, C. (2021). Safety challenges and safety measures of Li-ion batteries. </a:t>
            </a:r>
            <a:r>
              <a:rPr lang="en-US" altLang="ko-KR" sz="2800" kern="0" spc="0" dirty="0" err="1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EcoMat</a:t>
            </a:r>
            <a:r>
              <a:rPr lang="en-US" altLang="ko-KR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3(6), e12185</a:t>
            </a:r>
            <a:endParaRPr lang="ko-KR" altLang="en-US" sz="2800" kern="0" spc="0" dirty="0">
              <a:solidFill>
                <a:srgbClr val="000000"/>
              </a:solidFill>
              <a:effectLst/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marL="195580" marR="0" indent="-195580" algn="just" fontAlgn="base" latinLnBrk="1">
              <a:lnSpc>
                <a:spcPct val="160000"/>
              </a:lnSpc>
              <a:buNone/>
              <a:tabLst>
                <a:tab pos="541020" algn="l"/>
                <a:tab pos="1080770" algn="l"/>
                <a:tab pos="1621790" algn="l"/>
                <a:tab pos="2161540" algn="l"/>
                <a:tab pos="2702560" algn="l"/>
                <a:tab pos="3243580" algn="l"/>
                <a:tab pos="3783330" algn="l"/>
                <a:tab pos="4324350" algn="l"/>
                <a:tab pos="4864100" algn="l"/>
                <a:tab pos="5405120" algn="l"/>
                <a:tab pos="5946140" algn="l"/>
                <a:tab pos="6485890" algn="l"/>
                <a:tab pos="7026910" algn="l"/>
                <a:tab pos="7566660" algn="l"/>
                <a:tab pos="8107680" algn="l"/>
                <a:tab pos="8648700" algn="l"/>
                <a:tab pos="9188450" algn="l"/>
                <a:tab pos="9729470" algn="l"/>
                <a:tab pos="10269220" algn="l"/>
                <a:tab pos="10810240" algn="l"/>
                <a:tab pos="11351260" algn="l"/>
                <a:tab pos="11891010" algn="l"/>
                <a:tab pos="12432030" algn="l"/>
                <a:tab pos="12971780" algn="l"/>
                <a:tab pos="13512800" algn="l"/>
                <a:tab pos="14053820" algn="l"/>
                <a:tab pos="14593570" algn="l"/>
                <a:tab pos="15134590" algn="l"/>
                <a:tab pos="15674340" algn="l"/>
                <a:tab pos="16215360" algn="l"/>
              </a:tabLst>
            </a:pPr>
            <a:r>
              <a:rPr lang="en-US" altLang="ko-KR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</a:t>
            </a:r>
            <a:r>
              <a:rPr lang="ko-KR" altLang="en-US" sz="2800" kern="0" spc="0" dirty="0" err="1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심준현</a:t>
            </a:r>
            <a:r>
              <a:rPr lang="ko-KR" altLang="en-US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</a:t>
            </a:r>
            <a:r>
              <a:rPr lang="en-US" altLang="ko-KR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and </a:t>
            </a:r>
            <a:r>
              <a:rPr lang="ko-KR" altLang="en-US" sz="2800" kern="0" spc="0" dirty="0" err="1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김철진</a:t>
            </a:r>
            <a:r>
              <a:rPr lang="en-US" altLang="ko-KR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. (2023). </a:t>
            </a:r>
            <a:r>
              <a:rPr lang="ko-KR" altLang="en-US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시계열 이미지 데이터 기반 상품추천을 위한 </a:t>
            </a:r>
            <a:r>
              <a:rPr lang="en-US" altLang="ko-KR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CNN </a:t>
            </a:r>
            <a:r>
              <a:rPr lang="ko-KR" altLang="en-US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모델 성능 비교 연구</a:t>
            </a:r>
            <a:r>
              <a:rPr lang="en-US" altLang="ko-KR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. </a:t>
            </a:r>
            <a:r>
              <a:rPr lang="ko-KR" altLang="en-US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한국지식정보기술학회 </a:t>
            </a:r>
            <a:r>
              <a:rPr lang="ko-KR" altLang="en-US" sz="2800" kern="0" spc="0" dirty="0" err="1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논문지</a:t>
            </a:r>
            <a:r>
              <a:rPr lang="en-US" altLang="ko-KR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18(5), 1253-1264.</a:t>
            </a:r>
            <a:endParaRPr lang="ko-KR" altLang="en-US" sz="2800" kern="0" spc="0" dirty="0">
              <a:solidFill>
                <a:srgbClr val="000000"/>
              </a:solidFill>
              <a:effectLst/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pPr marL="195580" marR="0" indent="-195580" algn="just" fontAlgn="base" latinLnBrk="1">
              <a:lnSpc>
                <a:spcPct val="160000"/>
              </a:lnSpc>
              <a:tabLst>
                <a:tab pos="541020" algn="l"/>
                <a:tab pos="1080770" algn="l"/>
                <a:tab pos="1621790" algn="l"/>
                <a:tab pos="2161540" algn="l"/>
                <a:tab pos="2702560" algn="l"/>
                <a:tab pos="3243580" algn="l"/>
                <a:tab pos="3783330" algn="l"/>
                <a:tab pos="4324350" algn="l"/>
                <a:tab pos="4864100" algn="l"/>
                <a:tab pos="5405120" algn="l"/>
                <a:tab pos="5946140" algn="l"/>
                <a:tab pos="6485890" algn="l"/>
                <a:tab pos="7026910" algn="l"/>
                <a:tab pos="7566660" algn="l"/>
                <a:tab pos="8107680" algn="l"/>
                <a:tab pos="8648700" algn="l"/>
                <a:tab pos="9188450" algn="l"/>
                <a:tab pos="9729470" algn="l"/>
                <a:tab pos="10269220" algn="l"/>
                <a:tab pos="10810240" algn="l"/>
                <a:tab pos="11351260" algn="l"/>
                <a:tab pos="11891010" algn="l"/>
                <a:tab pos="12432030" algn="l"/>
                <a:tab pos="12971780" algn="l"/>
                <a:tab pos="13512800" algn="l"/>
                <a:tab pos="14053820" algn="l"/>
                <a:tab pos="14593570" algn="l"/>
                <a:tab pos="15134590" algn="l"/>
                <a:tab pos="15674340" algn="l"/>
                <a:tab pos="16215360" algn="l"/>
              </a:tabLst>
            </a:pPr>
            <a:r>
              <a:rPr lang="en-US" altLang="ko-KR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</a:t>
            </a:r>
            <a:r>
              <a:rPr lang="ko-KR" altLang="en-US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강민규</a:t>
            </a:r>
            <a:r>
              <a:rPr lang="en-US" altLang="ko-KR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lang="ko-KR" altLang="en-US" sz="2800" kern="0" spc="0" dirty="0" err="1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이현소</a:t>
            </a:r>
            <a:r>
              <a:rPr lang="en-US" altLang="ko-KR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lang="ko-KR" altLang="en-US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황성호</a:t>
            </a:r>
            <a:r>
              <a:rPr lang="en-US" altLang="ko-KR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lang="ko-KR" altLang="en-US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김경석</a:t>
            </a:r>
            <a:r>
              <a:rPr lang="en-US" altLang="ko-KR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. Short Time Fourier Transform </a:t>
            </a:r>
            <a:r>
              <a:rPr lang="ko-KR" altLang="en-US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알고리즘을 적용한 효율적인 스펙트럼 센싱 기법</a:t>
            </a:r>
            <a:r>
              <a:rPr lang="en-US" altLang="ko-KR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. </a:t>
            </a:r>
            <a:r>
              <a:rPr lang="ko-KR" altLang="en-US" sz="2800" kern="0" spc="0" dirty="0" err="1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한국방송미디어공학회</a:t>
            </a:r>
            <a:r>
              <a:rPr lang="ko-KR" altLang="en-US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학술발표대 논문집</a:t>
            </a:r>
            <a:r>
              <a:rPr lang="en-US" altLang="ko-KR" sz="2800" kern="0" spc="0" dirty="0">
                <a:solidFill>
                  <a:srgbClr val="000000"/>
                </a:solidFill>
                <a:effectLst/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</a:t>
            </a:r>
            <a:endParaRPr lang="ko-KR" altLang="en-US" sz="2800" kern="0" spc="0" dirty="0">
              <a:solidFill>
                <a:srgbClr val="000000"/>
              </a:solidFill>
              <a:effectLst/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7BBC9BF0-05E5-7339-81BC-AD7FC02F49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19197" t="28572" r="32500" b="39047"/>
          <a:stretch/>
        </p:blipFill>
        <p:spPr>
          <a:xfrm>
            <a:off x="26621139" y="41399019"/>
            <a:ext cx="2481759" cy="93581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02F4812-A5AF-AA8A-CE2B-B6195F02C3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0798" y="11755720"/>
            <a:ext cx="5729274" cy="325714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BDCE280-1792-9A37-AE82-3FE1EC9E12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7005" y="11820309"/>
            <a:ext cx="5729272" cy="2996424"/>
          </a:xfrm>
          <a:prstGeom prst="rect">
            <a:avLst/>
          </a:prstGeom>
        </p:spPr>
      </p:pic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6881DCDE-6127-DB0D-944A-8AD02491BA45}"/>
              </a:ext>
            </a:extLst>
          </p:cNvPr>
          <p:cNvSpPr/>
          <p:nvPr/>
        </p:nvSpPr>
        <p:spPr>
          <a:xfrm rot="5400000">
            <a:off x="7547097" y="12898815"/>
            <a:ext cx="552376" cy="476186"/>
          </a:xfrm>
          <a:prstGeom prst="triangle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B7922B-F1F5-0D14-E1F5-D80975203874}"/>
              </a:ext>
            </a:extLst>
          </p:cNvPr>
          <p:cNvSpPr txBox="1"/>
          <p:nvPr/>
        </p:nvSpPr>
        <p:spPr>
          <a:xfrm>
            <a:off x="9337712" y="15085530"/>
            <a:ext cx="4602881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Fig 1-2. Preprocessing Data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E09EB0E-8CEA-B39C-459F-26C4B2D58C42}"/>
              </a:ext>
            </a:extLst>
          </p:cNvPr>
          <p:cNvSpPr/>
          <p:nvPr/>
        </p:nvSpPr>
        <p:spPr>
          <a:xfrm>
            <a:off x="995693" y="9797812"/>
            <a:ext cx="13962953" cy="887117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70B528-44E7-CE93-23F3-D710460C41BF}"/>
              </a:ext>
            </a:extLst>
          </p:cNvPr>
          <p:cNvSpPr txBox="1"/>
          <p:nvPr/>
        </p:nvSpPr>
        <p:spPr>
          <a:xfrm>
            <a:off x="5377268" y="9802425"/>
            <a:ext cx="53682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Algorithm</a:t>
            </a:r>
            <a:endParaRPr lang="ko-KR" alt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ADA26A-CB2A-15DF-E896-B0F24E8935DB}"/>
              </a:ext>
            </a:extLst>
          </p:cNvPr>
          <p:cNvSpPr txBox="1"/>
          <p:nvPr/>
        </p:nvSpPr>
        <p:spPr>
          <a:xfrm>
            <a:off x="1423336" y="15696726"/>
            <a:ext cx="1229214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1</a:t>
            </a:r>
            <a:r>
              <a:rPr lang="ko-KR" altLang="en-US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분 단위로 </a:t>
            </a:r>
            <a:r>
              <a:rPr lang="ko-KR" altLang="en-US" sz="3200" dirty="0" err="1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센싱된</a:t>
            </a:r>
            <a:r>
              <a:rPr lang="ko-KR" altLang="en-US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</a:t>
            </a:r>
            <a:r>
              <a:rPr lang="en-US" altLang="ko-KR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ESS </a:t>
            </a:r>
            <a:r>
              <a:rPr lang="ko-KR" altLang="en-US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배터리 전압 값 </a:t>
            </a:r>
            <a:r>
              <a:rPr lang="en-US" altLang="ko-KR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-&gt; </a:t>
            </a:r>
          </a:p>
          <a:p>
            <a:r>
              <a:rPr lang="ko-KR" altLang="en-US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방전 후에도 측정되는 일정한 전압 값 이하 수치들 </a:t>
            </a:r>
            <a:r>
              <a:rPr lang="ko-KR" altLang="en-US" sz="3200" dirty="0" err="1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결측치로</a:t>
            </a:r>
            <a:r>
              <a:rPr lang="ko-KR" altLang="en-US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처리 </a:t>
            </a:r>
            <a:r>
              <a:rPr lang="en-US" altLang="ko-KR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-&gt; </a:t>
            </a:r>
            <a:r>
              <a:rPr lang="ko-KR" altLang="en-US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선형보간</a:t>
            </a:r>
            <a:endParaRPr lang="en-US" altLang="ko-KR" sz="32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5C86528-89CE-2B66-1B7E-A623BD2335C0}"/>
              </a:ext>
            </a:extLst>
          </p:cNvPr>
          <p:cNvSpPr/>
          <p:nvPr/>
        </p:nvSpPr>
        <p:spPr>
          <a:xfrm>
            <a:off x="1169162" y="17341582"/>
            <a:ext cx="13517478" cy="705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0987C5-E2B9-7137-0B76-CA2F35F1749C}"/>
              </a:ext>
            </a:extLst>
          </p:cNvPr>
          <p:cNvSpPr txBox="1"/>
          <p:nvPr/>
        </p:nvSpPr>
        <p:spPr>
          <a:xfrm>
            <a:off x="2680442" y="16992099"/>
            <a:ext cx="10546506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STFT (Short-Time Fourier Transform) &amp; Spectrogram</a:t>
            </a:r>
            <a:endParaRPr lang="ko-KR" altLang="en-US" sz="36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436130D-9902-0F66-00F9-90E3B0FF47A0}"/>
              </a:ext>
            </a:extLst>
          </p:cNvPr>
          <p:cNvSpPr/>
          <p:nvPr/>
        </p:nvSpPr>
        <p:spPr>
          <a:xfrm>
            <a:off x="15316567" y="9805815"/>
            <a:ext cx="13962953" cy="887117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929118-B127-0A29-3206-122D426E84EA}"/>
              </a:ext>
            </a:extLst>
          </p:cNvPr>
          <p:cNvSpPr txBox="1"/>
          <p:nvPr/>
        </p:nvSpPr>
        <p:spPr>
          <a:xfrm>
            <a:off x="19519186" y="9810428"/>
            <a:ext cx="53682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endParaRPr lang="ko-KR" alt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D79770-5405-E103-B3A3-962295991F52}"/>
              </a:ext>
            </a:extLst>
          </p:cNvPr>
          <p:cNvSpPr txBox="1"/>
          <p:nvPr/>
        </p:nvSpPr>
        <p:spPr>
          <a:xfrm>
            <a:off x="1817444" y="22940113"/>
            <a:ext cx="474341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Fig 2-1. STFT</a:t>
            </a:r>
            <a:r>
              <a:rPr lang="ko-KR" altLang="en-US" sz="28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</a:t>
            </a:r>
            <a:r>
              <a:rPr lang="en-US" altLang="ko-KR" sz="28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Graph</a:t>
            </a:r>
          </a:p>
        </p:txBody>
      </p:sp>
      <p:sp>
        <p:nvSpPr>
          <p:cNvPr id="38" name="이등변 삼각형 37">
            <a:extLst>
              <a:ext uri="{FF2B5EF4-FFF2-40B4-BE49-F238E27FC236}">
                <a16:creationId xmlns:a16="http://schemas.microsoft.com/office/drawing/2014/main" id="{938D5C8D-36A5-DB64-1613-297EEBE13C41}"/>
              </a:ext>
            </a:extLst>
          </p:cNvPr>
          <p:cNvSpPr/>
          <p:nvPr/>
        </p:nvSpPr>
        <p:spPr>
          <a:xfrm rot="5400000">
            <a:off x="7892418" y="20604040"/>
            <a:ext cx="588990" cy="507750"/>
          </a:xfrm>
          <a:prstGeom prst="triangle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735D2D7-18F9-3B86-0D09-2E1BE24B348C}"/>
              </a:ext>
            </a:extLst>
          </p:cNvPr>
          <p:cNvSpPr txBox="1"/>
          <p:nvPr/>
        </p:nvSpPr>
        <p:spPr>
          <a:xfrm>
            <a:off x="1204790" y="30268799"/>
            <a:ext cx="6681804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Fig 3-1. STFT Graph</a:t>
            </a:r>
          </a:p>
          <a:p>
            <a:pPr algn="ctr"/>
            <a:r>
              <a:rPr lang="en-US" altLang="ko-KR" sz="28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(Frequency Remove)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EFDDEFEF-DF83-360C-E2AF-F1B05508BB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6922" y="19514483"/>
            <a:ext cx="6159482" cy="3212396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A4BBC7AF-CCB6-8870-BB85-887CD5EFC0DB}"/>
              </a:ext>
            </a:extLst>
          </p:cNvPr>
          <p:cNvSpPr txBox="1"/>
          <p:nvPr/>
        </p:nvSpPr>
        <p:spPr>
          <a:xfrm>
            <a:off x="1509590" y="23834132"/>
            <a:ext cx="1326997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저주파 성분만 강하게 드러남 </a:t>
            </a:r>
            <a:r>
              <a:rPr lang="en-US" altLang="ko-KR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  <a:sym typeface="Wingdings" panose="05000000000000000000" pitchFamily="2" charset="2"/>
              </a:rPr>
              <a:t></a:t>
            </a:r>
            <a:r>
              <a:rPr lang="en-US" altLang="ko-KR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</a:t>
            </a:r>
            <a:r>
              <a:rPr lang="ko-KR" altLang="en-US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특정 주파수 범위 제거</a:t>
            </a:r>
            <a:endParaRPr lang="en-US" altLang="ko-KR" sz="32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r>
              <a:rPr lang="en-US" altLang="ko-KR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Why? </a:t>
            </a:r>
            <a:r>
              <a:rPr lang="ko-KR" altLang="en-US" sz="3200" dirty="0" err="1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전처리</a:t>
            </a:r>
            <a:r>
              <a:rPr lang="ko-KR" altLang="en-US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과정에서 데이터의 범위 </a:t>
            </a:r>
            <a:r>
              <a:rPr lang="ko-KR" altLang="en-US" sz="3200" dirty="0" err="1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좁아짐</a:t>
            </a:r>
            <a:r>
              <a:rPr lang="ko-KR" altLang="en-US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</a:t>
            </a:r>
            <a:r>
              <a:rPr lang="en-US" altLang="ko-KR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-&gt; </a:t>
            </a:r>
            <a:r>
              <a:rPr lang="ko-KR" altLang="en-US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절대적인 값의 변화량 크기 줄어듦</a:t>
            </a:r>
            <a:endParaRPr lang="en-US" altLang="ko-KR" sz="32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1BED62B0-1EAA-C6D0-058C-2C04FF4E5D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2639" y="26876479"/>
            <a:ext cx="6159482" cy="3179087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5F81FE65-B1C9-0B5C-137C-5CCC2117FC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32786" y="19371262"/>
            <a:ext cx="4825864" cy="3645167"/>
          </a:xfrm>
          <a:prstGeom prst="rect">
            <a:avLst/>
          </a:prstGeom>
        </p:spPr>
      </p:pic>
      <p:pic>
        <p:nvPicPr>
          <p:cNvPr id="73" name="그림 72">
            <a:extLst>
              <a:ext uri="{FF2B5EF4-FFF2-40B4-BE49-F238E27FC236}">
                <a16:creationId xmlns:a16="http://schemas.microsoft.com/office/drawing/2014/main" id="{AE5CF1D3-0634-4256-509B-99B7DFFFF89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93315" y="26696910"/>
            <a:ext cx="4413251" cy="3333504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0E1F23CB-0F04-DD9E-EF79-571F71EA53CC}"/>
              </a:ext>
            </a:extLst>
          </p:cNvPr>
          <p:cNvSpPr txBox="1"/>
          <p:nvPr/>
        </p:nvSpPr>
        <p:spPr>
          <a:xfrm>
            <a:off x="8962835" y="23084355"/>
            <a:ext cx="474341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Fig 2-2. Spectrogram</a:t>
            </a:r>
          </a:p>
        </p:txBody>
      </p:sp>
      <p:sp>
        <p:nvSpPr>
          <p:cNvPr id="77" name="이등변 삼각형 76">
            <a:extLst>
              <a:ext uri="{FF2B5EF4-FFF2-40B4-BE49-F238E27FC236}">
                <a16:creationId xmlns:a16="http://schemas.microsoft.com/office/drawing/2014/main" id="{1EBF6121-A82F-364D-EEA8-0A2A2B1D264D}"/>
              </a:ext>
            </a:extLst>
          </p:cNvPr>
          <p:cNvSpPr/>
          <p:nvPr/>
        </p:nvSpPr>
        <p:spPr>
          <a:xfrm rot="5400000">
            <a:off x="7852312" y="28212147"/>
            <a:ext cx="588990" cy="507750"/>
          </a:xfrm>
          <a:prstGeom prst="triangle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F7D2676-BA86-FB58-06FE-E7F8B5535FCF}"/>
              </a:ext>
            </a:extLst>
          </p:cNvPr>
          <p:cNvSpPr txBox="1"/>
          <p:nvPr/>
        </p:nvSpPr>
        <p:spPr>
          <a:xfrm>
            <a:off x="8823811" y="30288757"/>
            <a:ext cx="4743415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Fig 3-2. Spectrogram (Frequency Remove)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701EA5D-C328-6987-3041-C8CDD948D514}"/>
              </a:ext>
            </a:extLst>
          </p:cNvPr>
          <p:cNvSpPr txBox="1"/>
          <p:nvPr/>
        </p:nvSpPr>
        <p:spPr>
          <a:xfrm>
            <a:off x="1413002" y="17814954"/>
            <a:ext cx="123482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STFT: </a:t>
            </a:r>
            <a:r>
              <a:rPr lang="ko-KR" altLang="en-US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시간을 나눠서 </a:t>
            </a:r>
            <a:r>
              <a:rPr lang="en-US" altLang="ko-KR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Fourier Transform </a:t>
            </a:r>
            <a:r>
              <a:rPr lang="ko-KR" altLang="en-US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수행</a:t>
            </a:r>
            <a:endParaRPr lang="en-US" altLang="ko-KR" sz="36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r>
              <a:rPr lang="en-US" altLang="ko-KR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Spectrogram: </a:t>
            </a:r>
            <a:r>
              <a:rPr lang="ko-KR" altLang="en-US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시간</a:t>
            </a:r>
            <a:r>
              <a:rPr lang="en-US" altLang="ko-KR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lang="ko-KR" altLang="en-US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주파수</a:t>
            </a:r>
            <a:r>
              <a:rPr lang="en-US" altLang="ko-KR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lang="ko-KR" altLang="en-US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주파수 강도를 한 번에 </a:t>
            </a:r>
            <a:r>
              <a:rPr lang="ko-KR" altLang="en-US" sz="3600" dirty="0" err="1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시각화하는</a:t>
            </a:r>
            <a:r>
              <a:rPr lang="ko-KR" altLang="en-US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기법</a:t>
            </a:r>
            <a:endParaRPr lang="en-US" altLang="ko-KR" sz="36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81" name="화살표: 아래쪽 80">
            <a:extLst>
              <a:ext uri="{FF2B5EF4-FFF2-40B4-BE49-F238E27FC236}">
                <a16:creationId xmlns:a16="http://schemas.microsoft.com/office/drawing/2014/main" id="{3CEBBB48-F4A4-734F-E2D2-401D2333C23D}"/>
              </a:ext>
            </a:extLst>
          </p:cNvPr>
          <p:cNvSpPr/>
          <p:nvPr/>
        </p:nvSpPr>
        <p:spPr>
          <a:xfrm>
            <a:off x="7576235" y="25282231"/>
            <a:ext cx="745891" cy="862986"/>
          </a:xfrm>
          <a:prstGeom prst="downArrow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B072C0D-AE9A-DF82-86C0-AE30F36E3B85}"/>
              </a:ext>
            </a:extLst>
          </p:cNvPr>
          <p:cNvSpPr txBox="1"/>
          <p:nvPr/>
        </p:nvSpPr>
        <p:spPr>
          <a:xfrm>
            <a:off x="1235270" y="31353645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32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C4E2684-D156-4948-890A-58CA7DE7C22C}"/>
              </a:ext>
            </a:extLst>
          </p:cNvPr>
          <p:cNvSpPr/>
          <p:nvPr/>
        </p:nvSpPr>
        <p:spPr>
          <a:xfrm>
            <a:off x="1216673" y="31938348"/>
            <a:ext cx="13517478" cy="705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D974323-D2FB-AF27-D06A-498891F41F3A}"/>
              </a:ext>
            </a:extLst>
          </p:cNvPr>
          <p:cNvSpPr txBox="1"/>
          <p:nvPr/>
        </p:nvSpPr>
        <p:spPr>
          <a:xfrm>
            <a:off x="4332786" y="31655290"/>
            <a:ext cx="7488616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CNN</a:t>
            </a:r>
            <a:r>
              <a:rPr lang="ko-KR" altLang="en-US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</a:t>
            </a:r>
            <a:r>
              <a:rPr lang="en-US" altLang="ko-KR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(Convolutional Neural Network)</a:t>
            </a:r>
            <a:endParaRPr lang="ko-KR" altLang="en-US" sz="36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pic>
        <p:nvPicPr>
          <p:cNvPr id="88" name="그림 87">
            <a:extLst>
              <a:ext uri="{FF2B5EF4-FFF2-40B4-BE49-F238E27FC236}">
                <a16:creationId xmlns:a16="http://schemas.microsoft.com/office/drawing/2014/main" id="{B6865D47-7574-8EBD-19CC-82107C3BBA2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13531" y="32523445"/>
            <a:ext cx="7335274" cy="3772426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FB760215-7A27-4FD9-FABB-AB6EB6C7D942}"/>
              </a:ext>
            </a:extLst>
          </p:cNvPr>
          <p:cNvSpPr txBox="1"/>
          <p:nvPr/>
        </p:nvSpPr>
        <p:spPr>
          <a:xfrm>
            <a:off x="1420001" y="36834583"/>
            <a:ext cx="1091196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Kernel size (40 x 30)</a:t>
            </a:r>
          </a:p>
          <a:p>
            <a:r>
              <a:rPr lang="en-US" altLang="ko-KR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=&gt; Receptive</a:t>
            </a:r>
            <a:r>
              <a:rPr lang="ko-KR" altLang="en-US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</a:t>
            </a:r>
            <a:r>
              <a:rPr lang="en-US" altLang="ko-KR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Filed</a:t>
            </a:r>
            <a:r>
              <a:rPr lang="ko-KR" altLang="en-US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를 넓게 함으로써 </a:t>
            </a:r>
            <a:r>
              <a:rPr lang="en-US" altLang="ko-KR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Spectrogram</a:t>
            </a:r>
            <a:r>
              <a:rPr lang="ko-KR" altLang="en-US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의 패턴 파악</a:t>
            </a:r>
            <a:endParaRPr lang="en-US" altLang="ko-KR" sz="32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6E9193AC-37CF-02B1-8001-4AF30F2C7ED4}"/>
              </a:ext>
            </a:extLst>
          </p:cNvPr>
          <p:cNvSpPr/>
          <p:nvPr/>
        </p:nvSpPr>
        <p:spPr>
          <a:xfrm rot="16200000" flipV="1">
            <a:off x="1339475" y="24483848"/>
            <a:ext cx="27599836" cy="1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99257C8A-D9AC-9975-C6BE-7793868668E2}"/>
              </a:ext>
            </a:extLst>
          </p:cNvPr>
          <p:cNvSpPr/>
          <p:nvPr/>
        </p:nvSpPr>
        <p:spPr>
          <a:xfrm>
            <a:off x="1115482" y="38585687"/>
            <a:ext cx="28240893" cy="887117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85B55A8-848B-97B9-0D3C-01F63AAFAE4B}"/>
              </a:ext>
            </a:extLst>
          </p:cNvPr>
          <p:cNvSpPr txBox="1"/>
          <p:nvPr/>
        </p:nvSpPr>
        <p:spPr>
          <a:xfrm>
            <a:off x="13794908" y="38585593"/>
            <a:ext cx="26757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ko-KR" alt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FA80C1F-4E50-4F2F-10D5-4528037D7517}"/>
              </a:ext>
            </a:extLst>
          </p:cNvPr>
          <p:cNvSpPr txBox="1"/>
          <p:nvPr/>
        </p:nvSpPr>
        <p:spPr>
          <a:xfrm>
            <a:off x="5633714" y="36303615"/>
            <a:ext cx="474341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Fig 4. CNN Architecture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C5B3B100-5377-8367-D524-1DA60ED44101}"/>
              </a:ext>
            </a:extLst>
          </p:cNvPr>
          <p:cNvGrpSpPr/>
          <p:nvPr/>
        </p:nvGrpSpPr>
        <p:grpSpPr>
          <a:xfrm>
            <a:off x="15544636" y="10895403"/>
            <a:ext cx="13900582" cy="5578799"/>
            <a:chOff x="15652649" y="10806721"/>
            <a:chExt cx="13900582" cy="5578799"/>
          </a:xfrm>
        </p:grpSpPr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7C3E2374-87F7-2524-8166-17CD5DD84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2940152" y="11671616"/>
              <a:ext cx="6124263" cy="3366554"/>
            </a:xfrm>
            <a:prstGeom prst="rect">
              <a:avLst/>
            </a:prstGeom>
          </p:spPr>
        </p:pic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D45E2687-1747-0920-6412-0079833F4CE6}"/>
                </a:ext>
              </a:extLst>
            </p:cNvPr>
            <p:cNvSpPr/>
            <p:nvPr/>
          </p:nvSpPr>
          <p:spPr>
            <a:xfrm>
              <a:off x="15652649" y="11127784"/>
              <a:ext cx="13517478" cy="70588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00782AF-2D89-63BC-E703-AA42F1956B4C}"/>
                </a:ext>
              </a:extLst>
            </p:cNvPr>
            <p:cNvSpPr txBox="1"/>
            <p:nvPr/>
          </p:nvSpPr>
          <p:spPr>
            <a:xfrm>
              <a:off x="20497883" y="10806721"/>
              <a:ext cx="3615290" cy="6463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6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Train &amp; Validation</a:t>
              </a:r>
              <a:endParaRPr lang="ko-KR" altLang="en-US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pic>
          <p:nvPicPr>
            <p:cNvPr id="100" name="그림 99">
              <a:extLst>
                <a:ext uri="{FF2B5EF4-FFF2-40B4-BE49-F238E27FC236}">
                  <a16:creationId xmlns:a16="http://schemas.microsoft.com/office/drawing/2014/main" id="{1DBCCA78-54E2-AAC3-CCA3-20DE43039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5982141" y="11583652"/>
              <a:ext cx="6124264" cy="3366554"/>
            </a:xfrm>
            <a:prstGeom prst="rect">
              <a:avLst/>
            </a:prstGeom>
          </p:spPr>
        </p:pic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802FE5DE-B80B-F2A3-BB2C-E99B06BF57D0}"/>
                </a:ext>
              </a:extLst>
            </p:cNvPr>
            <p:cNvSpPr txBox="1"/>
            <p:nvPr/>
          </p:nvSpPr>
          <p:spPr>
            <a:xfrm>
              <a:off x="16742832" y="14958572"/>
              <a:ext cx="46028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Fig 5-1. Train Performance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AC6E566-EFBC-9C6C-F0A6-3F0834097573}"/>
                </a:ext>
              </a:extLst>
            </p:cNvPr>
            <p:cNvSpPr txBox="1"/>
            <p:nvPr/>
          </p:nvSpPr>
          <p:spPr>
            <a:xfrm>
              <a:off x="23536720" y="14973652"/>
              <a:ext cx="527543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Fig 5-2. Validation Performance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1C5A1F17-D060-05F2-4EE3-13FECFC7AA43}"/>
                </a:ext>
              </a:extLst>
            </p:cNvPr>
            <p:cNvSpPr txBox="1"/>
            <p:nvPr/>
          </p:nvSpPr>
          <p:spPr>
            <a:xfrm>
              <a:off x="16035753" y="15800745"/>
              <a:ext cx="13517478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32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Train, Validation </a:t>
              </a:r>
              <a:r>
                <a:rPr lang="ko-KR" altLang="en-US" sz="32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두 </a:t>
              </a:r>
              <a:r>
                <a:rPr lang="en-US" altLang="ko-KR" sz="32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dataset</a:t>
              </a:r>
              <a:r>
                <a:rPr lang="ko-KR" altLang="en-US" sz="32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에 대해서 모든 성능지표 증가하는 추세</a:t>
              </a:r>
              <a:endParaRPr lang="en-US" altLang="ko-KR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</p:grp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CE943A3F-BB4E-1207-88AF-18E06CB71BF5}"/>
              </a:ext>
            </a:extLst>
          </p:cNvPr>
          <p:cNvSpPr/>
          <p:nvPr/>
        </p:nvSpPr>
        <p:spPr>
          <a:xfrm>
            <a:off x="15556725" y="17008364"/>
            <a:ext cx="13517478" cy="70588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5AA6071-EAF1-762B-F808-537E6B3D4D75}"/>
              </a:ext>
            </a:extLst>
          </p:cNvPr>
          <p:cNvSpPr txBox="1"/>
          <p:nvPr/>
        </p:nvSpPr>
        <p:spPr>
          <a:xfrm>
            <a:off x="21608914" y="16665964"/>
            <a:ext cx="1376522" cy="6463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Test</a:t>
            </a:r>
            <a:endParaRPr lang="ko-KR" altLang="en-US" sz="36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1D7B7D09-03DC-A6FA-C55C-5F8049FA4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45243"/>
              </p:ext>
            </p:extLst>
          </p:nvPr>
        </p:nvGraphicFramePr>
        <p:xfrm>
          <a:off x="16383065" y="17509831"/>
          <a:ext cx="12203355" cy="1554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67785">
                  <a:extLst>
                    <a:ext uri="{9D8B030D-6E8A-4147-A177-3AD203B41FA5}">
                      <a16:colId xmlns:a16="http://schemas.microsoft.com/office/drawing/2014/main" val="3609575493"/>
                    </a:ext>
                  </a:extLst>
                </a:gridCol>
                <a:gridCol w="4067785">
                  <a:extLst>
                    <a:ext uri="{9D8B030D-6E8A-4147-A177-3AD203B41FA5}">
                      <a16:colId xmlns:a16="http://schemas.microsoft.com/office/drawing/2014/main" val="1541989431"/>
                    </a:ext>
                  </a:extLst>
                </a:gridCol>
                <a:gridCol w="4067785">
                  <a:extLst>
                    <a:ext uri="{9D8B030D-6E8A-4147-A177-3AD203B41FA5}">
                      <a16:colId xmlns:a16="http://schemas.microsoft.com/office/drawing/2014/main" val="1534088860"/>
                    </a:ext>
                  </a:extLst>
                </a:gridCol>
              </a:tblGrid>
              <a:tr h="333423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Test Performance</a:t>
                      </a:r>
                      <a:endParaRPr lang="ko-KR" altLang="en-US" sz="2800" dirty="0"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980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Precision</a:t>
                      </a:r>
                      <a:endParaRPr lang="ko-KR" altLang="en-US" sz="2800" dirty="0"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Recall</a:t>
                      </a:r>
                      <a:endParaRPr lang="ko-KR" altLang="en-US" sz="2800" dirty="0"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Accuracy</a:t>
                      </a:r>
                      <a:endParaRPr lang="ko-KR" altLang="en-US" sz="2800" dirty="0"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86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0.75</a:t>
                      </a:r>
                      <a:endParaRPr lang="ko-KR" altLang="en-US" sz="2800" dirty="0"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1.0</a:t>
                      </a:r>
                      <a:endParaRPr lang="ko-KR" altLang="en-US" sz="2800" dirty="0"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0.833</a:t>
                      </a:r>
                      <a:endParaRPr lang="ko-KR" altLang="en-US" sz="2800" dirty="0"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810398"/>
                  </a:ext>
                </a:extLst>
              </a:tr>
            </a:tbl>
          </a:graphicData>
        </a:graphic>
      </p:graphicFrame>
      <p:graphicFrame>
        <p:nvGraphicFramePr>
          <p:cNvPr id="133" name="표 132">
            <a:extLst>
              <a:ext uri="{FF2B5EF4-FFF2-40B4-BE49-F238E27FC236}">
                <a16:creationId xmlns:a16="http://schemas.microsoft.com/office/drawing/2014/main" id="{A18ED473-E378-59A4-586B-54ACA93829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521567"/>
              </p:ext>
            </p:extLst>
          </p:nvPr>
        </p:nvGraphicFramePr>
        <p:xfrm>
          <a:off x="17735354" y="23696476"/>
          <a:ext cx="9902250" cy="1554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51125">
                  <a:extLst>
                    <a:ext uri="{9D8B030D-6E8A-4147-A177-3AD203B41FA5}">
                      <a16:colId xmlns:a16="http://schemas.microsoft.com/office/drawing/2014/main" val="1541989431"/>
                    </a:ext>
                  </a:extLst>
                </a:gridCol>
                <a:gridCol w="4951125">
                  <a:extLst>
                    <a:ext uri="{9D8B030D-6E8A-4147-A177-3AD203B41FA5}">
                      <a16:colId xmlns:a16="http://schemas.microsoft.com/office/drawing/2014/main" val="1534088860"/>
                    </a:ext>
                  </a:extLst>
                </a:gridCol>
              </a:tblGrid>
              <a:tr h="3334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Accuracy</a:t>
                      </a:r>
                      <a:endParaRPr lang="ko-KR" altLang="en-US" sz="2800" dirty="0"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980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PCA-Based</a:t>
                      </a:r>
                      <a:endParaRPr lang="ko-KR" altLang="en-US" sz="2800" dirty="0"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Proposed</a:t>
                      </a:r>
                      <a:endParaRPr lang="ko-KR" altLang="en-US" sz="2800" dirty="0"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86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0.667</a:t>
                      </a:r>
                      <a:endParaRPr lang="ko-KR" altLang="en-US" sz="2800" dirty="0"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>
                          <a:latin typeface="Pretendard ExtraLight" panose="02000303000000020004" pitchFamily="50" charset="-127"/>
                          <a:ea typeface="Pretendard ExtraLight" panose="02000303000000020004" pitchFamily="50" charset="-127"/>
                          <a:cs typeface="Pretendard ExtraLight" panose="02000303000000020004" pitchFamily="50" charset="-127"/>
                        </a:rPr>
                        <a:t>0.833</a:t>
                      </a:r>
                      <a:endParaRPr lang="ko-KR" altLang="en-US" sz="2800" dirty="0">
                        <a:latin typeface="Pretendard ExtraLight" panose="02000303000000020004" pitchFamily="50" charset="-127"/>
                        <a:ea typeface="Pretendard ExtraLight" panose="02000303000000020004" pitchFamily="50" charset="-127"/>
                        <a:cs typeface="Pretendard ExtraLight" panose="020003030000000200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810398"/>
                  </a:ext>
                </a:extLst>
              </a:tr>
            </a:tbl>
          </a:graphicData>
        </a:graphic>
      </p:graphicFrame>
      <p:sp>
        <p:nvSpPr>
          <p:cNvPr id="134" name="TextBox 133">
            <a:extLst>
              <a:ext uri="{FF2B5EF4-FFF2-40B4-BE49-F238E27FC236}">
                <a16:creationId xmlns:a16="http://schemas.microsoft.com/office/drawing/2014/main" id="{9BAF1B53-6FDD-C36E-84D2-EAC3ECABDA7B}"/>
              </a:ext>
            </a:extLst>
          </p:cNvPr>
          <p:cNvSpPr txBox="1"/>
          <p:nvPr/>
        </p:nvSpPr>
        <p:spPr>
          <a:xfrm>
            <a:off x="16244410" y="25942978"/>
            <a:ext cx="762265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PCA </a:t>
            </a:r>
            <a:r>
              <a:rPr lang="ko-KR" altLang="en-US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기반 알고리즘 대비 약 </a:t>
            </a:r>
            <a:r>
              <a:rPr lang="en-US" altLang="ko-KR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25% </a:t>
            </a:r>
            <a:r>
              <a:rPr lang="ko-KR" altLang="en-US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성능 향상</a:t>
            </a:r>
            <a:endParaRPr lang="en-US" altLang="ko-KR" sz="32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C5BA432B-EA97-5456-9FC4-999E3A14464F}"/>
              </a:ext>
            </a:extLst>
          </p:cNvPr>
          <p:cNvSpPr/>
          <p:nvPr/>
        </p:nvSpPr>
        <p:spPr>
          <a:xfrm>
            <a:off x="15457608" y="27023269"/>
            <a:ext cx="13962953" cy="887117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F236FEE-475E-2774-38A7-D0DC62045549}"/>
              </a:ext>
            </a:extLst>
          </p:cNvPr>
          <p:cNvSpPr txBox="1"/>
          <p:nvPr/>
        </p:nvSpPr>
        <p:spPr>
          <a:xfrm>
            <a:off x="19660227" y="27074777"/>
            <a:ext cx="53682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ko-KR" altLang="en-US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843412AE-4676-63C1-FACC-FB4990E0738C}"/>
              </a:ext>
            </a:extLst>
          </p:cNvPr>
          <p:cNvSpPr txBox="1"/>
          <p:nvPr/>
        </p:nvSpPr>
        <p:spPr>
          <a:xfrm>
            <a:off x="16726705" y="31275673"/>
            <a:ext cx="474341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Fig 7-1. </a:t>
            </a:r>
            <a:r>
              <a:rPr lang="ko-KR" altLang="en-US" sz="2800" dirty="0" err="1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비화재</a:t>
            </a:r>
            <a:r>
              <a:rPr lang="ko-KR" altLang="en-US" sz="28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데이터 그래프</a:t>
            </a:r>
            <a:endParaRPr lang="en-US" altLang="ko-KR" sz="28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5A8B4A14-3F93-429B-B0B4-CC9FCFFBE7BD}"/>
              </a:ext>
            </a:extLst>
          </p:cNvPr>
          <p:cNvSpPr txBox="1"/>
          <p:nvPr/>
        </p:nvSpPr>
        <p:spPr>
          <a:xfrm>
            <a:off x="22984982" y="31271999"/>
            <a:ext cx="474341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Fig 7-2. </a:t>
            </a:r>
            <a:r>
              <a:rPr lang="ko-KR" altLang="en-US" sz="28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화재 데이터 그래프</a:t>
            </a:r>
            <a:endParaRPr lang="en-US" altLang="ko-KR" sz="28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pic>
        <p:nvPicPr>
          <p:cNvPr id="146" name="그림 145">
            <a:extLst>
              <a:ext uri="{FF2B5EF4-FFF2-40B4-BE49-F238E27FC236}">
                <a16:creationId xmlns:a16="http://schemas.microsoft.com/office/drawing/2014/main" id="{51E814F6-523D-6DAA-DFB9-BA08662C09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496142" y="28335570"/>
            <a:ext cx="5722935" cy="2965395"/>
          </a:xfrm>
          <a:prstGeom prst="rect">
            <a:avLst/>
          </a:prstGeom>
        </p:spPr>
      </p:pic>
      <p:pic>
        <p:nvPicPr>
          <p:cNvPr id="148" name="그림 147">
            <a:extLst>
              <a:ext uri="{FF2B5EF4-FFF2-40B4-BE49-F238E27FC236}">
                <a16:creationId xmlns:a16="http://schemas.microsoft.com/office/drawing/2014/main" id="{161C2915-3E5C-3636-1469-64652FDF89A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204996" y="28356592"/>
            <a:ext cx="5740935" cy="2974722"/>
          </a:xfrm>
          <a:prstGeom prst="rect">
            <a:avLst/>
          </a:prstGeom>
        </p:spPr>
      </p:pic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86DDA198-2735-B516-3EE5-3C7106EBCECD}"/>
              </a:ext>
            </a:extLst>
          </p:cNvPr>
          <p:cNvGrpSpPr/>
          <p:nvPr/>
        </p:nvGrpSpPr>
        <p:grpSpPr>
          <a:xfrm>
            <a:off x="15697918" y="19731945"/>
            <a:ext cx="13867971" cy="3750010"/>
            <a:chOff x="15797646" y="19736847"/>
            <a:chExt cx="13867971" cy="3750010"/>
          </a:xfrm>
        </p:grpSpPr>
        <p:pic>
          <p:nvPicPr>
            <p:cNvPr id="131" name="그림 130">
              <a:extLst>
                <a:ext uri="{FF2B5EF4-FFF2-40B4-BE49-F238E27FC236}">
                  <a16:creationId xmlns:a16="http://schemas.microsoft.com/office/drawing/2014/main" id="{ACEA6F4A-F619-D787-B6E8-23149A77E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5797646" y="19736847"/>
              <a:ext cx="6077500" cy="3218345"/>
            </a:xfrm>
            <a:prstGeom prst="rect">
              <a:avLst/>
            </a:prstGeom>
          </p:spPr>
        </p:pic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56253E2-74BF-0676-5D86-7685CDC6C433}"/>
                </a:ext>
              </a:extLst>
            </p:cNvPr>
            <p:cNvSpPr txBox="1"/>
            <p:nvPr/>
          </p:nvSpPr>
          <p:spPr>
            <a:xfrm>
              <a:off x="22042963" y="20139941"/>
              <a:ext cx="7622654" cy="20621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32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Recall</a:t>
              </a:r>
              <a:r>
                <a:rPr lang="ko-KR" altLang="en-US" sz="32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이 </a:t>
              </a:r>
              <a:r>
                <a:rPr lang="en-US" altLang="ko-KR" sz="32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1.0</a:t>
              </a:r>
              <a:r>
                <a:rPr lang="ko-KR" altLang="en-US" sz="32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일 때 </a:t>
              </a:r>
              <a:endParaRPr lang="en-US" altLang="ko-KR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r>
                <a:rPr lang="en-US" altLang="ko-KR" sz="32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Precision</a:t>
              </a:r>
              <a:r>
                <a:rPr lang="ko-KR" altLang="en-US" sz="32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은 </a:t>
              </a:r>
              <a:r>
                <a:rPr lang="en-US" altLang="ko-KR" sz="32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0.7 </a:t>
              </a:r>
              <a:r>
                <a:rPr lang="ko-KR" altLang="en-US" sz="32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이상</a:t>
              </a:r>
              <a:endParaRPr lang="en-US" altLang="ko-KR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  <a:p>
              <a:r>
                <a:rPr lang="en-US" altLang="ko-KR" sz="32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  <a:sym typeface="Wingdings" panose="05000000000000000000" pitchFamily="2" charset="2"/>
                </a:rPr>
                <a:t></a:t>
              </a:r>
              <a:r>
                <a:rPr lang="ko-KR" altLang="en-US" sz="32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모든 화재를 검출했을 뿐만 아니라</a:t>
              </a:r>
              <a:r>
                <a:rPr lang="en-US" altLang="ko-KR" sz="32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, </a:t>
              </a:r>
              <a:r>
                <a:rPr lang="ko-KR" altLang="en-US" sz="32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화재가 아닌 데이터들에 대해서도 높은 </a:t>
              </a:r>
              <a:r>
                <a:rPr lang="ko-KR" altLang="en-US" sz="3200" dirty="0" err="1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예측값을</a:t>
              </a:r>
              <a:r>
                <a:rPr lang="ko-KR" altLang="en-US" sz="32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 가짐</a:t>
              </a:r>
              <a:endParaRPr lang="en-US" altLang="ko-KR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D65AAE16-72C5-E0F4-AA62-BE2B5B865243}"/>
                </a:ext>
              </a:extLst>
            </p:cNvPr>
            <p:cNvSpPr txBox="1"/>
            <p:nvPr/>
          </p:nvSpPr>
          <p:spPr>
            <a:xfrm>
              <a:off x="17550543" y="22963637"/>
              <a:ext cx="2739654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dirty="0">
                  <a:latin typeface="Pretendard ExtraLight" panose="02000303000000020004" pitchFamily="50" charset="-127"/>
                  <a:ea typeface="Pretendard ExtraLight" panose="02000303000000020004" pitchFamily="50" charset="-127"/>
                  <a:cs typeface="Pretendard ExtraLight" panose="02000303000000020004" pitchFamily="50" charset="-127"/>
                </a:rPr>
                <a:t>Fig 6. PR-Curve</a:t>
              </a:r>
            </a:p>
          </p:txBody>
        </p: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1634291D-004E-E64C-AB28-9D08F5811BA6}"/>
              </a:ext>
            </a:extLst>
          </p:cNvPr>
          <p:cNvSpPr txBox="1"/>
          <p:nvPr/>
        </p:nvSpPr>
        <p:spPr>
          <a:xfrm>
            <a:off x="20120909" y="19157217"/>
            <a:ext cx="474341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Table 1. Test Performance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CF623B04-4DBC-6D52-8C05-0E02BD94A9E3}"/>
              </a:ext>
            </a:extLst>
          </p:cNvPr>
          <p:cNvSpPr txBox="1"/>
          <p:nvPr/>
        </p:nvSpPr>
        <p:spPr>
          <a:xfrm>
            <a:off x="20314771" y="25287640"/>
            <a:ext cx="474341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Table 2. Accuracy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DB40E9D-32BC-19C8-B65C-03278010FF75}"/>
              </a:ext>
            </a:extLst>
          </p:cNvPr>
          <p:cNvSpPr txBox="1"/>
          <p:nvPr/>
        </p:nvSpPr>
        <p:spPr>
          <a:xfrm>
            <a:off x="15655828" y="36327710"/>
            <a:ext cx="13559996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눈으로 확인했을 때</a:t>
            </a:r>
            <a:r>
              <a:rPr lang="en-US" altLang="ko-KR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, </a:t>
            </a:r>
            <a:r>
              <a:rPr lang="ko-KR" altLang="en-US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비슷한 형태를 가진 화재</a:t>
            </a:r>
            <a:r>
              <a:rPr lang="en-US" altLang="ko-KR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/</a:t>
            </a:r>
            <a:r>
              <a:rPr lang="ko-KR" altLang="en-US" sz="3200" dirty="0" err="1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비화재</a:t>
            </a:r>
            <a:r>
              <a:rPr lang="ko-KR" altLang="en-US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데이터를 </a:t>
            </a:r>
            <a:endParaRPr lang="en-US" altLang="ko-KR" sz="32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  <a:p>
            <a:r>
              <a:rPr lang="en-US" altLang="ko-KR" sz="3200" dirty="0">
                <a:solidFill>
                  <a:srgbClr val="FF0000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Spectrogram + CNN</a:t>
            </a:r>
            <a:r>
              <a:rPr lang="ko-KR" altLang="en-US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을 사용하여 </a:t>
            </a:r>
            <a:r>
              <a:rPr lang="ko-KR" altLang="en-US" sz="3200" dirty="0">
                <a:solidFill>
                  <a:srgbClr val="FF0000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약 </a:t>
            </a:r>
            <a:r>
              <a:rPr lang="en-US" altLang="ko-KR" sz="3200" dirty="0">
                <a:solidFill>
                  <a:srgbClr val="FF0000"/>
                </a:solidFill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83%</a:t>
            </a:r>
            <a:r>
              <a:rPr lang="ko-KR" altLang="en-US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의</a:t>
            </a:r>
            <a:r>
              <a:rPr lang="en-US" altLang="ko-KR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</a:t>
            </a:r>
            <a:r>
              <a:rPr lang="ko-KR" altLang="en-US" sz="32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높은 정확도를 가진 알고리즘을 제안</a:t>
            </a:r>
            <a:endParaRPr lang="en-US" altLang="ko-KR" sz="3200" dirty="0">
              <a:latin typeface="Pretendard ExtraLight" panose="02000303000000020004" pitchFamily="50" charset="-127"/>
              <a:ea typeface="Pretendard ExtraLight" panose="02000303000000020004" pitchFamily="50" charset="-127"/>
              <a:cs typeface="Pretendard ExtraLight" panose="02000303000000020004" pitchFamily="50" charset="-127"/>
            </a:endParaRPr>
          </a:p>
        </p:txBody>
      </p:sp>
      <p:pic>
        <p:nvPicPr>
          <p:cNvPr id="157" name="그림 156">
            <a:extLst>
              <a:ext uri="{FF2B5EF4-FFF2-40B4-BE49-F238E27FC236}">
                <a16:creationId xmlns:a16="http://schemas.microsoft.com/office/drawing/2014/main" id="{E5A2B4E1-5937-2DA6-EF18-29B2BC5F9DD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399481" y="32233332"/>
            <a:ext cx="3917620" cy="2959134"/>
          </a:xfrm>
          <a:prstGeom prst="rect">
            <a:avLst/>
          </a:prstGeom>
        </p:spPr>
      </p:pic>
      <p:pic>
        <p:nvPicPr>
          <p:cNvPr id="159" name="그림 158">
            <a:extLst>
              <a:ext uri="{FF2B5EF4-FFF2-40B4-BE49-F238E27FC236}">
                <a16:creationId xmlns:a16="http://schemas.microsoft.com/office/drawing/2014/main" id="{282F24C5-97F4-E1A5-0915-73C09CB8C50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511130" y="32249735"/>
            <a:ext cx="3917621" cy="2959135"/>
          </a:xfrm>
          <a:prstGeom prst="rect">
            <a:avLst/>
          </a:prstGeom>
        </p:spPr>
      </p:pic>
      <p:sp>
        <p:nvSpPr>
          <p:cNvPr id="160" name="TextBox 159">
            <a:extLst>
              <a:ext uri="{FF2B5EF4-FFF2-40B4-BE49-F238E27FC236}">
                <a16:creationId xmlns:a16="http://schemas.microsoft.com/office/drawing/2014/main" id="{3E358F94-9633-A2B1-CFF9-500A68936E96}"/>
              </a:ext>
            </a:extLst>
          </p:cNvPr>
          <p:cNvSpPr txBox="1"/>
          <p:nvPr/>
        </p:nvSpPr>
        <p:spPr>
          <a:xfrm>
            <a:off x="16635491" y="35178268"/>
            <a:ext cx="566291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Fig 8-1. </a:t>
            </a:r>
            <a:r>
              <a:rPr lang="ko-KR" altLang="en-US" sz="2800" dirty="0" err="1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비화재</a:t>
            </a:r>
            <a:r>
              <a:rPr lang="ko-KR" altLang="en-US" sz="28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 데이터 </a:t>
            </a:r>
            <a:r>
              <a:rPr lang="en-US" altLang="ko-KR" sz="28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Spectrogram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7C1315A0-4A97-86C3-580D-76924799DB46}"/>
              </a:ext>
            </a:extLst>
          </p:cNvPr>
          <p:cNvSpPr txBox="1"/>
          <p:nvPr/>
        </p:nvSpPr>
        <p:spPr>
          <a:xfrm>
            <a:off x="22879031" y="35168123"/>
            <a:ext cx="522721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Fig 8-2. </a:t>
            </a:r>
            <a:r>
              <a:rPr lang="ko-KR" altLang="en-US" sz="28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화재 데이터 </a:t>
            </a:r>
            <a:r>
              <a:rPr lang="en-US" altLang="ko-KR" sz="2800" dirty="0">
                <a:latin typeface="Pretendard ExtraLight" panose="02000303000000020004" pitchFamily="50" charset="-127"/>
                <a:ea typeface="Pretendard ExtraLight" panose="02000303000000020004" pitchFamily="50" charset="-127"/>
                <a:cs typeface="Pretendard ExtraLight" panose="02000303000000020004" pitchFamily="50" charset="-127"/>
              </a:rPr>
              <a:t>Spectrogram</a:t>
            </a:r>
          </a:p>
        </p:txBody>
      </p:sp>
    </p:spTree>
    <p:extLst>
      <p:ext uri="{BB962C8B-B14F-4D97-AF65-F5344CB8AC3E}">
        <p14:creationId xmlns:p14="http://schemas.microsoft.com/office/powerpoint/2010/main" val="2099461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7429</TotalTime>
  <Words>524</Words>
  <Application>Microsoft Office PowerPoint</Application>
  <PresentationFormat>사용자 지정</PresentationFormat>
  <Paragraphs>84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Noto Sans KR Medium</vt:lpstr>
      <vt:lpstr>Pretendard ExtraLight</vt:lpstr>
      <vt:lpstr>Aptos</vt:lpstr>
      <vt:lpstr>Aptos Display</vt:lpstr>
      <vt:lpstr>Arial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김현정</dc:creator>
  <cp:lastModifiedBy>연서 이</cp:lastModifiedBy>
  <cp:revision>122</cp:revision>
  <dcterms:created xsi:type="dcterms:W3CDTF">2025-01-25T05:28:25Z</dcterms:created>
  <dcterms:modified xsi:type="dcterms:W3CDTF">2025-06-19T15:43:47Z</dcterms:modified>
</cp:coreProperties>
</file>